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Bevezetés" id="{79543333-e012-07fe-7a51-a3c5792941b7}">
          <p14:sldIdLst>
            <p14:sldId id="256"/>
            <p14:sldId id="257"/>
            <p14:sldId id="258"/>
          </p14:sldIdLst>
        </p14:section>
        <p14:section name="Módszer" id="{94df3726-d47f-4e77-5055-b4c8167c2436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Eredmények" id="{f0e271a6-4043-65ed-0642-a4b1116c2ee9}">
          <p14:sldIdLst>
            <p14:sldId id="267"/>
            <p14:sldId id="268"/>
            <p14:sldId id="269"/>
            <p14:sldId id="270"/>
            <p14:sldId id="271"/>
            <p14:sldId id="272"/>
          </p14:sldIdLst>
        </p14:section>
        <p14:section name="Összegzés" id="{1fb0fe92-7e73-0673-936e-80118a4dd656}">
          <p14:sldIdLst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Soft Actor-Critic ágens CARLA Town04-ben, kamera + LiDAR autoenkóder látensekből vezet. A fő kérdés: milyen jutalomfüggvénnyel tanítható meg a sávtartás és a szabályos előzés. Öt jutalomfüggvényt hasonlítottam össze 250 bejáráson.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Az önvezetés fő haszna a biztonság. Szimulátorban tanítok, mert ott az ütközés nem jár következménnyel. A statikus sávtartás ma már megoldott, a valódi kérdés a mozgó forgalom kezelése — ez a dolgozatom témája.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Town04 azért jó választás, mert egy térképen van autópálya és városi szakasz is. A szimuláció 20 Hz-es, szinkron. Az ágens Soft Actor-Critic, 1 millió lépésen tanult, ez kb. 12 óra. Az akció a kormány és a gáz.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Három kamera- és három LiDAR-autoenkódert hasonlítottam össze. Kamerára a konvolúciós nyert, az MSE-je harmada a VGG-alapúnak. LiDAR-ra a gráf-alapút választottam: bár a RankMe-je kisebb, a látense a legsimább, két szomszédos képkocka között alig változik — ez az RL-nek fontosabb, mert a stabil bemenet könnyebben tanulható.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Mindkét autoenkódert előre, külön tanítottam be, a vezetéstől függetlenül. A kamera-enkóder négy konvolúciós blokkból áll és 128 elemű látensbe vetít; a LiDAR gráf-alapú enkódere a TopoLiDM mintájára készült, gráfrétegekkel, amelyek a hasonló jellemzőket akkor is együtt kezelik, ha a képen távol esnek. A dekóderre csak a tanításhoz van szükség. A fúzió a dia alsó felén látszik: a két szenzorág látensét egy közös 256-os térbe hozom és összeadom — nem konkatenálom, mert az összeadás kevesebb paramétert igényel. Az állapotvektor külön, 64-es ágon jön, és csak a végén fűzöm hozzá, onnan megy a SAC aktorába és kritikusába. A LiDAR-ág konvolúciós rétegei az ágenssel együtt tanulnak, tehát arra hangolódnak, ami a vezetéshez kell.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Az R1 a kiindulási modellem. Minden forgalmi helyzetre külön tagot írtam: szabad úton négy tényező szorzata, követéskor a távolságtól függő jutalom, előzésért pedig egy +5-ös bónusz a manőver végén. Ez lett a legszabályosabb és a legjobb sávtartású modell.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Az R2 egyetlen dologban tér el: a TTC-büntetést az előzhető helyzetre is kiterjesztettem. Azt vártam, hogy ettől hamarabb kezd előzni. Ehelyett az ellenkezője történt: óvatosabb lett, kevesebbet előzött, és a sikeres kísérletek aránya 74,6-ról 60,4 százalékra esett.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Az R3-ban négy ponton hangoltam, hogy végre megérje előzni: szűkítettem a TTC-büntetés küszöbét de megdupláztam a súlyát, megemeltem az előzési jutalmat, és kettébontottam a bónuszt. A várakozásommal szemben ez lett a legóvatosabb és egyben a legveszélyesebb modell. Itt láttam be, hogy a kézi tagok kioltják egymást.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Az R4-nél teljesen átszabtam a logikát. Nem írok külön tagot minden helyzetre, hanem egyetlen fizikai mennyiséget jutalmazok: az útvonal mentén megtett elmozdulást. A feltételezésem az volt, hogy a lassabb autó mögött a haladás magától kevesebbet ér, így az előzés kézi ösztönzés nélkül is megéri. Ez bejött: 556-ról 1018-ra nőtt az elhaladás.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Az R5 az R4-re épül, egyetlen taggal. A gond az volt, hogy a +5 csak a manőver végén jár, a kihúzódás pillanatában a diszkont miatt már csak 0,66-ot ér, így az ágens alig érzi. A potenciálalapú formálással a jutalom hamarabb érkezik, és Ng és társai 1999-es cikke szerint ez bizonyítottan nem változtatja meg az optimális stratégiát. Ez lett a leggyorsabb és a legjobb sikerarányú modell.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Egy futás nem jellemzi a modellt, mert a forgalom kezdőhelyzete véletlen. Ezért tíz útvonalon ötször mértem, ez 250 bejárás. A seedeket fixáltam, így a modellek ugyanazokon a helyzeteken mérődnek össze. A jutalmat nem hasonlítom, mert mindegyik más függvénnyel tanult — helyette a fizikai viselkedést mérem.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Négy szempont szerint értékelem a modelleket.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Az R2 és R3 lelassult a TTC-büntetés miatt, az R3 a leglassabb, 31,7 km/h. A haladásalapú R4 és R5 visszahozta az R1 sebességét, az R5 lett a leggyorsabb. A menetidőben ez 800 másodperc különbség R3 és R5 között.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Ez a legfontosabb táblázat. Az R3 paradoxona: bátrabb előzésre hangoltam, mégis a legkevesebbet előzött, 556 elhaladás, és a kísérletek 27,8 százalékát feladta. Az R4 haladásalapú jutalma kézi ösztönzés nélkül visszahozta az előzést. Az R5 adta a legjobb sikerarányt. A szabályos arányban viszont az R1 maradt a legjobb, 94 százalék.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Érdekes megfigyelés: az R2-ben és R3-ban nem nyúltam a sávtartási tagokhoz, mégis romlott a sávtartás. Ennek oka, hogy a félbehagyott előzési kísérletek extra kormánymozdulatot adnak. Az R1 itt a legjobb, 86,4 százalék — ez a beágyazott sávközép- és simasági tényezőnek köszönhető.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modellek hasonló utat tettek meg, 169-171 km, így a számok összevethetők. A legfontosabb tanulság: az arányt kell nézni, nem a darabszámot. Az R4 többet ütött, de többet is előzött. Az R3 a legveszélyesebb, ez volt az egyetlen, ami rendszeresen 60 fölé gyorsított. Az R5 aránya a legjobb.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Nem lehet egyértelmű győztest kimondani. Az R5 gyorsabb, mindig célba ért, és a legkisebb az elütési aránya. Az R1 szabályosabban előz és sokkal jobban tartja a sávot. A sikerarányuk gyakorlatilag azonos.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fő tanulság: nem érdemes minden helyzetre külön kézi tagot írni, mert kiolthatják egymást. Jobban működik, ha a jutalom a haladást díjazza. Az előzést az első lépéstől jutalmazni kell, és erre a potenciálalapú formálás elméletileg is biztonságos eszköz. Tovább az R5 irányában haladnék, visszaépítve az R1 sávtartását.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Köszönöm a figyelmet, állok a kérdések elébe.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049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1783080"/>
            <a:ext cx="9875520" cy="1691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 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68680" y="3840480"/>
            <a:ext cx="10424160" cy="2194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rgbClr val="CFE0D4"/>
                </a:solidFill>
              </a:defRPr>
            </a:lvl1pPr>
          </a:lstStyle>
          <a:p>
            <a:pPr algn="l" indent="0" marL="0">
              <a:buNone/>
            </a:pPr>
            <a:r>
              <a:rPr lang="en-US" sz="1600" dirty="0">
                <a:solidFill>
                  <a:srgbClr val="CFE0D4"/>
                </a:solidFill>
              </a:rPr>
              <a:t> 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00492A"/>
                </a:solidFill>
              </a:defRPr>
            </a:lvl1pPr>
          </a:lstStyle>
          <a:p>
            <a:pPr algn="l" indent="0" marL="0">
              <a:buNone/>
            </a:pPr>
            <a:r>
              <a:rPr lang="en-US" sz="3200" b="1" dirty="0">
                <a:solidFill>
                  <a:srgbClr val="00492A"/>
                </a:solidFill>
              </a:rPr>
              <a:t> </a:t>
            </a:r>
            <a:endParaRPr lang="en-US" sz="3200" dirty="0"/>
          </a:p>
        </p:txBody>
      </p:sp>
      <p:sp>
        <p:nvSpPr>
          <p:cNvPr id="3" name="Text 0"/>
          <p:cNvSpPr txBox="1"/>
          <p:nvPr/>
        </p:nvSpPr>
        <p:spPr>
          <a:xfrm>
            <a:off x="548640" y="6355080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9A8A"/>
                </a:solidFill>
              </a:rPr>
              <a:t>Debreceni Egyetem, Informatikai Kar · TDK 2026 · Angi Dávid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550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D9A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0049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651760"/>
            <a:ext cx="105156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 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68680" y="3794760"/>
            <a:ext cx="104241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rgbClr val="CFE0D4"/>
                </a:solidFill>
              </a:defRPr>
            </a:lvl1pPr>
          </a:lstStyle>
          <a:p>
            <a:pPr algn="l" indent="0" marL="0">
              <a:buNone/>
            </a:pPr>
            <a:r>
              <a:rPr lang="en-US" sz="1600" dirty="0">
                <a:solidFill>
                  <a:srgbClr val="CFE0D4"/>
                </a:solidFill>
              </a:rPr>
              <a:t> </a:t>
            </a: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550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D9A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68680" y="86868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FFFFF"/>
                </a:solidFill>
              </a:rPr>
              <a:t>DEBRECENI EGYETEM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68680" y="126187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CFE0D4"/>
                </a:solidFill>
              </a:rPr>
              <a:t>Informatikai Kar · TDK 2026</a:t>
            </a:r>
            <a:endParaRPr lang="en-US" sz="13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822960" y="1783080"/>
            <a:ext cx="9875520" cy="1691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Dinamikus objektumelkerülés megerősítéses tanulással a CARLA szimulátorban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39319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7D9A8A"/>
                </a:solidFill>
              </a:rPr>
              <a:t>Készítette: </a:t>
            </a:r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Angi Dávid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43434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7D9A8A"/>
                </a:solidFill>
              </a:rPr>
              <a:t>Témavezető: </a:t>
            </a:r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Mészáros László</a:t>
            </a:r>
            <a:endParaRPr lang="en-US" sz="1700" dirty="0"/>
          </a:p>
        </p:txBody>
      </p:sp>
      <p:sp>
        <p:nvSpPr>
          <p:cNvPr id="7" name="cim-jel"/>
          <p:cNvSpPr/>
          <p:nvPr/>
        </p:nvSpPr>
        <p:spPr>
          <a:xfrm>
            <a:off x="868680" y="3657600"/>
            <a:ext cx="1005840" cy="41148"/>
          </a:xfrm>
          <a:prstGeom prst="rect">
            <a:avLst/>
          </a:prstGeom>
          <a:solidFill>
            <a:srgbClr val="C891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0"/>
          <p:cNvSpPr/>
          <p:nvPr>
            <p:ph idx="101" type="body" hasCustomPrompt="1"/>
          </p:nvPr>
        </p:nvSpPr>
        <p:spPr>
          <a:xfrm>
            <a:off x="868680" y="3840480"/>
            <a:ext cx="104241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492A"/>
                </a:solidFill>
              </a:rPr>
              <a:t>Miért hasznos az önvezető autózás?</a:t>
            </a:r>
            <a:endParaRPr lang="en-US" sz="3200" dirty="0"/>
          </a:p>
        </p:txBody>
      </p:sp>
      <p:pic>
        <p:nvPicPr>
          <p:cNvPr id="3" name="carla-kep" descr="/tmp/claude-1000/-home-labor-CARLA-DAVID-TDK-RL-carla-ROS2/715fc7ab-c6b5-49bf-a3d7-cea8d961abde/scratchpad/img/carla_sim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1371600"/>
            <a:ext cx="5074920" cy="285292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537960" y="4279392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6B55"/>
                </a:solidFill>
              </a:rPr>
              <a:t>A CARLA szimulátor</a:t>
            </a:r>
            <a:endParaRPr lang="en-US" sz="1000" dirty="0"/>
          </a:p>
        </p:txBody>
      </p:sp>
      <p:sp>
        <p:nvSpPr>
          <p:cNvPr id="5" name="kor-0"/>
          <p:cNvSpPr/>
          <p:nvPr/>
        </p:nvSpPr>
        <p:spPr>
          <a:xfrm>
            <a:off x="566928" y="1408176"/>
            <a:ext cx="384048" cy="384048"/>
          </a:xfrm>
          <a:prstGeom prst="ellipse">
            <a:avLst/>
          </a:prstGeom>
          <a:solidFill>
            <a:srgbClr val="0049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66928" y="1408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097280" y="13716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492A"/>
                </a:solidFill>
              </a:rPr>
              <a:t>Biztonság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1719072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492A"/>
                </a:solidFill>
              </a:rPr>
              <a:t>A balesetek nagy része emberi hibából ered — a gép nem lesz figyelmetlen vagy fáradt.</a:t>
            </a:r>
            <a:endParaRPr lang="en-US" sz="1400" dirty="0"/>
          </a:p>
        </p:txBody>
      </p:sp>
      <p:sp>
        <p:nvSpPr>
          <p:cNvPr id="9" name="kor-1"/>
          <p:cNvSpPr/>
          <p:nvPr/>
        </p:nvSpPr>
        <p:spPr>
          <a:xfrm>
            <a:off x="566928" y="2615184"/>
            <a:ext cx="384048" cy="384048"/>
          </a:xfrm>
          <a:prstGeom prst="ellipse">
            <a:avLst/>
          </a:prstGeom>
          <a:solidFill>
            <a:srgbClr val="0049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66928" y="2615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097280" y="257860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492A"/>
                </a:solidFill>
              </a:rPr>
              <a:t>Tanulás szimulációban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1097280" y="292608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492A"/>
                </a:solidFill>
              </a:rPr>
              <a:t>Valós úton veszélyes és drága tanítani; a szimulátorban az ütközés következmény nélküli.</a:t>
            </a:r>
            <a:endParaRPr lang="en-US" sz="1400" dirty="0"/>
          </a:p>
        </p:txBody>
      </p:sp>
      <p:sp>
        <p:nvSpPr>
          <p:cNvPr id="13" name="kor-2"/>
          <p:cNvSpPr/>
          <p:nvPr/>
        </p:nvSpPr>
        <p:spPr>
          <a:xfrm>
            <a:off x="566928" y="3822192"/>
            <a:ext cx="384048" cy="384048"/>
          </a:xfrm>
          <a:prstGeom prst="ellipse">
            <a:avLst/>
          </a:prstGeom>
          <a:solidFill>
            <a:srgbClr val="0049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66928" y="3822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1097280" y="3785616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492A"/>
                </a:solidFill>
              </a:rPr>
              <a:t>Dinamikus környezet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1097280" y="4133088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492A"/>
                </a:solidFill>
              </a:rPr>
              <a:t>A statikus sávtartás megoldott probléma — a nehézséget a mozgó forgalom kezelése adja.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566928" y="507492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00492A"/>
                </a:solidFill>
              </a:rPr>
              <a:t>Célom: olyan ágens, amely kamera és LiDAR alapján tartja a sávot, és a nála lassabb járműveket szabályosan, balról kerüli el.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550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D9A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492A"/>
                </a:solidFill>
              </a:rPr>
              <a:t>Tanító környezet — CARLA, Town04</a:t>
            </a:r>
            <a:endParaRPr lang="en-US" sz="3200" dirty="0"/>
          </a:p>
        </p:txBody>
      </p:sp>
      <p:pic>
        <p:nvPicPr>
          <p:cNvPr id="3" name="town04" descr="/tmp/claude-1000/-home-labor-CARLA-DAVID-TDK-RL-carla-ROS2/715fc7ab-c6b5-49bf-a3d7-cea8d961abde/scratchpad/img/town04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25880"/>
            <a:ext cx="4937760" cy="37033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66928" y="50749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6B55"/>
                </a:solidFill>
              </a:rPr>
              <a:t>A Town04 pálya felülnézeti térképe</a:t>
            </a:r>
            <a:endParaRPr lang="en-US" sz="1000" dirty="0"/>
          </a:p>
        </p:txBody>
      </p:sp>
      <p:sp>
        <p:nvSpPr>
          <p:cNvPr id="5" name="kartya-0"/>
          <p:cNvSpPr/>
          <p:nvPr/>
        </p:nvSpPr>
        <p:spPr>
          <a:xfrm>
            <a:off x="5897880" y="1325880"/>
            <a:ext cx="5733288" cy="667512"/>
          </a:xfrm>
          <a:prstGeom prst="roundRect">
            <a:avLst>
              <a:gd name="adj" fmla="val 8219"/>
            </a:avLst>
          </a:prstGeom>
          <a:solidFill>
            <a:srgbClr val="EEF2EE"/>
          </a:solidFill>
          <a:ln w="9525">
            <a:solidFill>
              <a:srgbClr val="CFE0D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108192" y="1380744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03C"/>
                </a:solidFill>
              </a:rPr>
              <a:t>Town04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183880" y="1380744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492A"/>
                </a:solidFill>
              </a:rPr>
              <a:t>autópálya-gyűrű és városi szakaszok egy térképen</a:t>
            </a:r>
            <a:endParaRPr lang="en-US" sz="1200" dirty="0"/>
          </a:p>
        </p:txBody>
      </p:sp>
      <p:sp>
        <p:nvSpPr>
          <p:cNvPr id="8" name="kartya-1"/>
          <p:cNvSpPr/>
          <p:nvPr/>
        </p:nvSpPr>
        <p:spPr>
          <a:xfrm>
            <a:off x="5897880" y="2112264"/>
            <a:ext cx="5733288" cy="667512"/>
          </a:xfrm>
          <a:prstGeom prst="roundRect">
            <a:avLst>
              <a:gd name="adj" fmla="val 8219"/>
            </a:avLst>
          </a:prstGeom>
          <a:solidFill>
            <a:srgbClr val="EEF2EE"/>
          </a:solidFill>
          <a:ln w="9525">
            <a:solidFill>
              <a:srgbClr val="CFE0D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108192" y="216712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03C"/>
                </a:solidFill>
              </a:rPr>
              <a:t>20 Hz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8183880" y="216712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492A"/>
                </a:solidFill>
              </a:rPr>
              <a:t>szinkron szimuláció, determinisztikus lépések</a:t>
            </a:r>
            <a:endParaRPr lang="en-US" sz="1200" dirty="0"/>
          </a:p>
        </p:txBody>
      </p:sp>
      <p:sp>
        <p:nvSpPr>
          <p:cNvPr id="11" name="kartya-2"/>
          <p:cNvSpPr/>
          <p:nvPr/>
        </p:nvSpPr>
        <p:spPr>
          <a:xfrm>
            <a:off x="5897880" y="2898648"/>
            <a:ext cx="5733288" cy="667512"/>
          </a:xfrm>
          <a:prstGeom prst="roundRect">
            <a:avLst>
              <a:gd name="adj" fmla="val 8219"/>
            </a:avLst>
          </a:prstGeom>
          <a:solidFill>
            <a:srgbClr val="EEF2EE"/>
          </a:solidFill>
          <a:ln w="9525">
            <a:solidFill>
              <a:srgbClr val="CFE0D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108192" y="2953512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03C"/>
                </a:solidFill>
              </a:rPr>
              <a:t>Soft Actor-Critic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8183880" y="295351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492A"/>
                </a:solidFill>
              </a:rPr>
              <a:t>Stable-Baselines3, 1 millió tanítólépés (~12 óra)</a:t>
            </a:r>
            <a:endParaRPr lang="en-US" sz="1200" dirty="0"/>
          </a:p>
        </p:txBody>
      </p:sp>
      <p:sp>
        <p:nvSpPr>
          <p:cNvPr id="14" name="kartya-3"/>
          <p:cNvSpPr/>
          <p:nvPr/>
        </p:nvSpPr>
        <p:spPr>
          <a:xfrm>
            <a:off x="5897880" y="3685032"/>
            <a:ext cx="5733288" cy="667512"/>
          </a:xfrm>
          <a:prstGeom prst="roundRect">
            <a:avLst>
              <a:gd name="adj" fmla="val 8219"/>
            </a:avLst>
          </a:prstGeom>
          <a:solidFill>
            <a:srgbClr val="EEF2EE"/>
          </a:solidFill>
          <a:ln w="9525">
            <a:solidFill>
              <a:srgbClr val="CFE0D4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108192" y="3739896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03C"/>
                </a:solidFill>
              </a:rPr>
              <a:t>Akció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8183880" y="3739896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492A"/>
                </a:solidFill>
              </a:rPr>
              <a:t>kormány és gáz, folytonos értékkel</a:t>
            </a:r>
            <a:endParaRPr lang="en-US" sz="1200" dirty="0"/>
          </a:p>
        </p:txBody>
      </p:sp>
      <p:sp>
        <p:nvSpPr>
          <p:cNvPr id="17" name="kartya-4"/>
          <p:cNvSpPr/>
          <p:nvPr/>
        </p:nvSpPr>
        <p:spPr>
          <a:xfrm>
            <a:off x="5897880" y="4471416"/>
            <a:ext cx="5733288" cy="667512"/>
          </a:xfrm>
          <a:prstGeom prst="roundRect">
            <a:avLst>
              <a:gd name="adj" fmla="val 8219"/>
            </a:avLst>
          </a:prstGeom>
          <a:solidFill>
            <a:srgbClr val="EEF2EE"/>
          </a:solidFill>
          <a:ln w="9525">
            <a:solidFill>
              <a:srgbClr val="CFE0D4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108192" y="45262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03C"/>
                </a:solidFill>
              </a:rPr>
              <a:t>Epizódzárás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8183880" y="45262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492A"/>
                </a:solidFill>
              </a:rPr>
              <a:t>ütközés −30, letérés / megállás / túlgyorsulás −10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550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D9A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492A"/>
                </a:solidFill>
              </a:rPr>
              <a:t>Autoenkóderek: a szenzoradat tömörítése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11556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6B55"/>
                </a:solidFill>
              </a:rPr>
              <a:t>A nyers kép és pontfelhő túl nagy az RL-nek. Előre betanított enkóderekkel tömörítem, a tanítás alatt ezek súlyai fixek.</a:t>
            </a:r>
            <a:endParaRPr lang="en-US" sz="1400" dirty="0"/>
          </a:p>
        </p:txBody>
      </p:sp>
      <p:pic>
        <p:nvPicPr>
          <p:cNvPr id="4" name="kamera-peldak" descr="/tmp/claude-1000/-home-labor-CARLA-DAVID-TDK-RL-carla-ROS2/715fc7ab-c6b5-49bf-a3d7-cea8d961abde/scratchpad/img/camera_examp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627632"/>
            <a:ext cx="5349240" cy="11887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66928" y="2852928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492A"/>
                </a:solidFill>
              </a:rPr>
              <a:t>Kamera: 160×80 kép → 128 elemű látens</a:t>
            </a:r>
            <a:endParaRPr lang="en-US" sz="1100" dirty="0"/>
          </a:p>
        </p:txBody>
      </p:sp>
      <p:pic>
        <p:nvPicPr>
          <p:cNvPr id="6" name="lidar-bemenetek" descr="/tmp/claude-1000/-home-labor-CARLA-DAVID-TDK-RL-carla-ROS2/715fc7ab-c6b5-49bf-a3d7-cea8d961abde/scratchpad/img/lidar_inpu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627632"/>
            <a:ext cx="5321808" cy="11887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309360" y="2852928"/>
            <a:ext cx="5321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492A"/>
                </a:solidFill>
              </a:rPr>
              <a:t>LiDAR: pontfelhő → 16×11×32 jellemzőtérkép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566928" y="3310128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492A"/>
                </a:solidFill>
              </a:rPr>
              <a:t>Kamera-autoenkóderek (teszthalmaz)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639312"/>
          <a:ext cx="5349240" cy="914400"/>
        </p:xfrm>
        <a:graphic>
          <a:graphicData uri="http://schemas.openxmlformats.org/drawingml/2006/table">
            <a:tbl>
              <a:tblPr/>
              <a:tblGrid>
                <a:gridCol w="2240280"/>
                <a:gridCol w="1554480"/>
                <a:gridCol w="155448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9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9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PSNR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92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C89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Konvolúciós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89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0,00088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89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30,58 dB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Reziduális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0,00495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23,06 dB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VGG-alapú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0,00278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25,56 dB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5"/>
          <p:cNvSpPr txBox="1"/>
          <p:nvPr/>
        </p:nvSpPr>
        <p:spPr>
          <a:xfrm>
            <a:off x="6309360" y="3310128"/>
            <a:ext cx="5321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492A"/>
                </a:solidFill>
              </a:rPr>
              <a:t>LiDAR-autoenkóderek (látens minősége)</a:t>
            </a:r>
            <a:endParaRPr lang="en-US" sz="14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3639312"/>
          <a:ext cx="5321808" cy="914400"/>
        </p:xfrm>
        <a:graphic>
          <a:graphicData uri="http://schemas.openxmlformats.org/drawingml/2006/table">
            <a:tbl>
              <a:tblPr/>
              <a:tblGrid>
                <a:gridCol w="2212848"/>
                <a:gridCol w="1554480"/>
                <a:gridCol w="155448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9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9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Simaság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92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BEV-alapú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1,44×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C89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Gráf-alapú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0,504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89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1,86×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6"/>
          <p:cNvSpPr txBox="1"/>
          <p:nvPr/>
        </p:nvSpPr>
        <p:spPr>
          <a:xfrm>
            <a:off x="566928" y="523036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00492A"/>
                </a:solidFill>
              </a:rPr>
              <a:t>Választás: konvolúciós kamera-AE (legkisebb hiba) + gráf-alapú LiDAR-AE (legsimább látens, nem ugrál képkockák között).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550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D9A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492A"/>
                </a:solidFill>
              </a:rPr>
              <a:t>Enkóderek és szenzorfúzió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9728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F6B55"/>
                </a:solidFill>
              </a:rPr>
              <a:t>Két előre betanított enkóder tömöríti a szenzoradatot; a tanítás alatt a súlyaik fixek, és csak a látens kerül az ágenshez.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463040"/>
            <a:ext cx="5321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492A"/>
                </a:solidFill>
              </a:rPr>
              <a:t>Kamera — konvolúciós autoenkóder</a:t>
            </a:r>
            <a:endParaRPr lang="en-US" sz="1400" dirty="0"/>
          </a:p>
        </p:txBody>
      </p:sp>
      <p:sp>
        <p:nvSpPr>
          <p:cNvPr id="5" name="ae0-be"/>
          <p:cNvSpPr/>
          <p:nvPr/>
        </p:nvSpPr>
        <p:spPr>
          <a:xfrm>
            <a:off x="566928" y="1783080"/>
            <a:ext cx="5321808" cy="384048"/>
          </a:xfrm>
          <a:prstGeom prst="roundRect">
            <a:avLst>
              <a:gd name="adj" fmla="val 14286"/>
            </a:avLst>
          </a:prstGeom>
          <a:solidFill>
            <a:srgbClr val="EEF2EE"/>
          </a:solidFill>
          <a:ln w="12700">
            <a:solidFill>
              <a:srgbClr val="7D9A8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1783080"/>
            <a:ext cx="5321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0492A"/>
                </a:solidFill>
              </a:rPr>
              <a:t>RGB kép · 3×80×160</a:t>
            </a:r>
            <a:endParaRPr lang="en-US" sz="1150" dirty="0"/>
          </a:p>
        </p:txBody>
      </p:sp>
      <p:sp>
        <p:nvSpPr>
          <p:cNvPr id="7" name="ae0-ny1"/>
          <p:cNvSpPr/>
          <p:nvPr/>
        </p:nvSpPr>
        <p:spPr>
          <a:xfrm>
            <a:off x="3227832" y="2167128"/>
            <a:ext cx="0" cy="274320"/>
          </a:xfrm>
          <a:prstGeom prst="line">
            <a:avLst/>
          </a:prstGeom>
          <a:noFill/>
          <a:ln w="19050">
            <a:solidFill>
              <a:srgbClr val="7D9A8A"/>
            </a:solidFill>
            <a:prstDash val="solid"/>
            <a:tailEnd type="triangle"/>
          </a:ln>
        </p:spPr>
      </p:sp>
      <p:sp>
        <p:nvSpPr>
          <p:cNvPr id="8" name="ae0-enk"/>
          <p:cNvSpPr/>
          <p:nvPr/>
        </p:nvSpPr>
        <p:spPr>
          <a:xfrm>
            <a:off x="566928" y="2441448"/>
            <a:ext cx="53218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492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2496312"/>
            <a:ext cx="5321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492A"/>
                </a:solidFill>
              </a:rPr>
              <a:t>Enkóder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58368" y="2715768"/>
            <a:ext cx="51389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00492A"/>
                </a:solidFill>
              </a:rPr>
              <a:t>4× konvolúciós blokk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00492A"/>
                </a:solidFill>
              </a:rPr>
              <a:t>4×4 kernel, 2-es lépésköz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00492A"/>
                </a:solidFill>
              </a:rPr>
              <a:t>BatchNorm + LeakyReLU</a:t>
            </a:r>
            <a:endParaRPr lang="en-US" sz="1050" dirty="0"/>
          </a:p>
        </p:txBody>
      </p:sp>
      <p:sp>
        <p:nvSpPr>
          <p:cNvPr id="11" name="ae0-ny2"/>
          <p:cNvSpPr/>
          <p:nvPr/>
        </p:nvSpPr>
        <p:spPr>
          <a:xfrm>
            <a:off x="3227832" y="3355848"/>
            <a:ext cx="0" cy="274320"/>
          </a:xfrm>
          <a:prstGeom prst="line">
            <a:avLst/>
          </a:prstGeom>
          <a:noFill/>
          <a:ln w="19050">
            <a:solidFill>
              <a:srgbClr val="7D9A8A"/>
            </a:solidFill>
            <a:prstDash val="solid"/>
            <a:tailEnd type="triangle"/>
          </a:ln>
        </p:spPr>
      </p:sp>
      <p:sp>
        <p:nvSpPr>
          <p:cNvPr id="12" name="ae0-lat"/>
          <p:cNvSpPr/>
          <p:nvPr/>
        </p:nvSpPr>
        <p:spPr>
          <a:xfrm>
            <a:off x="1664208" y="3630168"/>
            <a:ext cx="3127248" cy="402336"/>
          </a:xfrm>
          <a:prstGeom prst="roundRect">
            <a:avLst>
              <a:gd name="adj" fmla="val 13636"/>
            </a:avLst>
          </a:prstGeom>
          <a:solidFill>
            <a:srgbClr val="0049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664208" y="3630168"/>
            <a:ext cx="3127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Látens  128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1463040"/>
            <a:ext cx="5321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03C"/>
                </a:solidFill>
              </a:rPr>
              <a:t>LiDAR — gráf-alapú autoenkóder</a:t>
            </a:r>
            <a:endParaRPr lang="en-US" sz="1400" dirty="0"/>
          </a:p>
        </p:txBody>
      </p:sp>
      <p:sp>
        <p:nvSpPr>
          <p:cNvPr id="15" name="ae1-be"/>
          <p:cNvSpPr/>
          <p:nvPr/>
        </p:nvSpPr>
        <p:spPr>
          <a:xfrm>
            <a:off x="6309360" y="1783080"/>
            <a:ext cx="5321808" cy="384048"/>
          </a:xfrm>
          <a:prstGeom prst="roundRect">
            <a:avLst>
              <a:gd name="adj" fmla="val 14286"/>
            </a:avLst>
          </a:prstGeom>
          <a:solidFill>
            <a:srgbClr val="EEF2EE"/>
          </a:solidFill>
          <a:ln w="12700">
            <a:solidFill>
              <a:srgbClr val="7D9A8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09360" y="1783080"/>
            <a:ext cx="5321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0492A"/>
                </a:solidFill>
              </a:rPr>
              <a:t>Távolságkép · 360°-os pásztázás</a:t>
            </a:r>
            <a:endParaRPr lang="en-US" sz="1150" dirty="0"/>
          </a:p>
        </p:txBody>
      </p:sp>
      <p:sp>
        <p:nvSpPr>
          <p:cNvPr id="17" name="ae1-ny1"/>
          <p:cNvSpPr/>
          <p:nvPr/>
        </p:nvSpPr>
        <p:spPr>
          <a:xfrm>
            <a:off x="8970264" y="2167128"/>
            <a:ext cx="0" cy="274320"/>
          </a:xfrm>
          <a:prstGeom prst="line">
            <a:avLst/>
          </a:prstGeom>
          <a:noFill/>
          <a:ln w="19050">
            <a:solidFill>
              <a:srgbClr val="7D9A8A"/>
            </a:solidFill>
            <a:prstDash val="solid"/>
            <a:tailEnd type="triangle"/>
          </a:ln>
        </p:spPr>
      </p:sp>
      <p:sp>
        <p:nvSpPr>
          <p:cNvPr id="18" name="ae1-enk"/>
          <p:cNvSpPr/>
          <p:nvPr/>
        </p:nvSpPr>
        <p:spPr>
          <a:xfrm>
            <a:off x="6309360" y="2441448"/>
            <a:ext cx="53218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703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09360" y="2496312"/>
            <a:ext cx="5321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703C"/>
                </a:solidFill>
              </a:rPr>
              <a:t>Enkóder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6400800" y="2715768"/>
            <a:ext cx="51389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00492A"/>
                </a:solidFill>
              </a:rPr>
              <a:t>konvolúciós + gráfrétegek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00492A"/>
                </a:solidFill>
              </a:rPr>
              <a:t>azimut-körkörös szomszédság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00492A"/>
                </a:solidFill>
              </a:rPr>
              <a:t>TopoLiDM mintájára</a:t>
            </a:r>
            <a:endParaRPr lang="en-US" sz="1050" dirty="0"/>
          </a:p>
        </p:txBody>
      </p:sp>
      <p:sp>
        <p:nvSpPr>
          <p:cNvPr id="21" name="ae1-ny2"/>
          <p:cNvSpPr/>
          <p:nvPr/>
        </p:nvSpPr>
        <p:spPr>
          <a:xfrm>
            <a:off x="8970264" y="3355848"/>
            <a:ext cx="0" cy="274320"/>
          </a:xfrm>
          <a:prstGeom prst="line">
            <a:avLst/>
          </a:prstGeom>
          <a:noFill/>
          <a:ln w="19050">
            <a:solidFill>
              <a:srgbClr val="7D9A8A"/>
            </a:solidFill>
            <a:prstDash val="solid"/>
            <a:tailEnd type="triangle"/>
          </a:ln>
        </p:spPr>
      </p:sp>
      <p:sp>
        <p:nvSpPr>
          <p:cNvPr id="22" name="ae1-lat"/>
          <p:cNvSpPr/>
          <p:nvPr/>
        </p:nvSpPr>
        <p:spPr>
          <a:xfrm>
            <a:off x="7406640" y="3630168"/>
            <a:ext cx="3127248" cy="402336"/>
          </a:xfrm>
          <a:prstGeom prst="roundRect">
            <a:avLst>
              <a:gd name="adj" fmla="val 13636"/>
            </a:avLst>
          </a:prstGeom>
          <a:solidFill>
            <a:srgbClr val="0070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406640" y="3630168"/>
            <a:ext cx="3127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Látens  16×11×32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66928" y="406908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F6B55"/>
                </a:solidFill>
              </a:rPr>
              <a:t>A dekóderre csak a tanításhoz van szükség — az ágens már egyedül a látenst kapja meg.</a:t>
            </a:r>
            <a:endParaRPr lang="en-US" sz="1050" dirty="0"/>
          </a:p>
        </p:txBody>
      </p:sp>
      <p:sp>
        <p:nvSpPr>
          <p:cNvPr id="25" name="valaszto"/>
          <p:cNvSpPr/>
          <p:nvPr/>
        </p:nvSpPr>
        <p:spPr>
          <a:xfrm>
            <a:off x="566928" y="4407408"/>
            <a:ext cx="11064240" cy="0"/>
          </a:xfrm>
          <a:prstGeom prst="line">
            <a:avLst/>
          </a:prstGeom>
          <a:noFill/>
          <a:ln w="12700">
            <a:solidFill>
              <a:srgbClr val="CFE0D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66928" y="446227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492A"/>
                </a:solidFill>
              </a:rPr>
              <a:t>Fúziós pipeline (a saját jellemzőkinyerő)</a:t>
            </a:r>
            <a:endParaRPr lang="en-US" sz="1400" dirty="0"/>
          </a:p>
        </p:txBody>
      </p:sp>
      <p:sp>
        <p:nvSpPr>
          <p:cNvPr id="27" name="fz-0"/>
          <p:cNvSpPr/>
          <p:nvPr/>
        </p:nvSpPr>
        <p:spPr>
          <a:xfrm>
            <a:off x="685800" y="4773168"/>
            <a:ext cx="2834640" cy="566928"/>
          </a:xfrm>
          <a:prstGeom prst="roundRect">
            <a:avLst>
              <a:gd name="adj" fmla="val 9677"/>
            </a:avLst>
          </a:prstGeom>
          <a:solidFill>
            <a:srgbClr val="EEF2EE"/>
          </a:solidFill>
          <a:ln w="12700">
            <a:solidFill>
              <a:srgbClr val="7D9A8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58952" y="4773168"/>
            <a:ext cx="2688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50"/>
              </a:lnSpc>
              <a:buNone/>
            </a:pPr>
            <a:r>
              <a:rPr lang="en-US" sz="1000" dirty="0">
                <a:solidFill>
                  <a:srgbClr val="00492A"/>
                </a:solidFill>
              </a:rPr>
              <a:t>Kamera-ág</a:t>
            </a:r>
            <a:endParaRPr lang="en-US" sz="1000" dirty="0"/>
          </a:p>
          <a:p>
            <a:pPr algn="ctr" indent="0" marL="0">
              <a:lnSpc>
                <a:spcPts val="1150"/>
              </a:lnSpc>
              <a:buNone/>
            </a:pPr>
            <a:r>
              <a:rPr lang="en-US" sz="1000" dirty="0">
                <a:solidFill>
                  <a:srgbClr val="00492A"/>
                </a:solidFill>
              </a:rPr>
              <a:t>lineáris → 256</a:t>
            </a:r>
            <a:endParaRPr lang="en-US" sz="1000" dirty="0"/>
          </a:p>
        </p:txBody>
      </p:sp>
      <p:sp>
        <p:nvSpPr>
          <p:cNvPr id="29" name="fz-1"/>
          <p:cNvSpPr/>
          <p:nvPr/>
        </p:nvSpPr>
        <p:spPr>
          <a:xfrm>
            <a:off x="4663440" y="4773168"/>
            <a:ext cx="2834640" cy="566928"/>
          </a:xfrm>
          <a:prstGeom prst="roundRect">
            <a:avLst>
              <a:gd name="adj" fmla="val 9677"/>
            </a:avLst>
          </a:prstGeom>
          <a:solidFill>
            <a:srgbClr val="EEF2EE"/>
          </a:solidFill>
          <a:ln w="12700">
            <a:solidFill>
              <a:srgbClr val="7D9A8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736592" y="4773168"/>
            <a:ext cx="2688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50"/>
              </a:lnSpc>
              <a:buNone/>
            </a:pPr>
            <a:r>
              <a:rPr lang="en-US" sz="1000" dirty="0">
                <a:solidFill>
                  <a:srgbClr val="00492A"/>
                </a:solidFill>
              </a:rPr>
              <a:t>LiDAR-ág</a:t>
            </a:r>
            <a:endParaRPr lang="en-US" sz="1000" dirty="0"/>
          </a:p>
          <a:p>
            <a:pPr algn="ctr" indent="0" marL="0">
              <a:lnSpc>
                <a:spcPts val="1150"/>
              </a:lnSpc>
              <a:buNone/>
            </a:pPr>
            <a:r>
              <a:rPr lang="en-US" sz="1000" dirty="0">
                <a:solidFill>
                  <a:srgbClr val="00492A"/>
                </a:solidFill>
              </a:rPr>
              <a:t>konvolúció → 256</a:t>
            </a:r>
            <a:endParaRPr lang="en-US" sz="1000" dirty="0"/>
          </a:p>
        </p:txBody>
      </p:sp>
      <p:sp>
        <p:nvSpPr>
          <p:cNvPr id="31" name="fz-2"/>
          <p:cNvSpPr/>
          <p:nvPr/>
        </p:nvSpPr>
        <p:spPr>
          <a:xfrm>
            <a:off x="8641080" y="4773168"/>
            <a:ext cx="2834640" cy="566928"/>
          </a:xfrm>
          <a:prstGeom prst="roundRect">
            <a:avLst>
              <a:gd name="adj" fmla="val 9677"/>
            </a:avLst>
          </a:prstGeom>
          <a:solidFill>
            <a:srgbClr val="EEF2EE"/>
          </a:solidFill>
          <a:ln w="12700">
            <a:solidFill>
              <a:srgbClr val="7D9A8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714232" y="4773168"/>
            <a:ext cx="2688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50"/>
              </a:lnSpc>
              <a:buNone/>
            </a:pPr>
            <a:r>
              <a:rPr lang="en-US" sz="1000" dirty="0">
                <a:solidFill>
                  <a:srgbClr val="00492A"/>
                </a:solidFill>
              </a:rPr>
              <a:t>Állapotág</a:t>
            </a:r>
            <a:endParaRPr lang="en-US" sz="1000" dirty="0"/>
          </a:p>
          <a:p>
            <a:pPr algn="ctr" indent="0" marL="0">
              <a:lnSpc>
                <a:spcPts val="1150"/>
              </a:lnSpc>
              <a:buNone/>
            </a:pPr>
            <a:r>
              <a:rPr lang="en-US" sz="1000" dirty="0">
                <a:solidFill>
                  <a:srgbClr val="00492A"/>
                </a:solidFill>
              </a:rPr>
              <a:t>sebesség, irányszög,</a:t>
            </a:r>
            <a:endParaRPr lang="en-US" sz="1000" dirty="0"/>
          </a:p>
          <a:p>
            <a:pPr algn="ctr" indent="0" marL="0">
              <a:lnSpc>
                <a:spcPts val="1150"/>
              </a:lnSpc>
              <a:buNone/>
            </a:pPr>
            <a:r>
              <a:rPr lang="en-US" sz="1000" dirty="0">
                <a:solidFill>
                  <a:srgbClr val="00492A"/>
                </a:solidFill>
              </a:rPr>
              <a:t>manőver, waypointok → 64</a:t>
            </a:r>
            <a:endParaRPr lang="en-US" sz="1000" dirty="0"/>
          </a:p>
        </p:txBody>
      </p:sp>
      <p:sp>
        <p:nvSpPr>
          <p:cNvPr id="33" name="fz-ny-k"/>
          <p:cNvSpPr/>
          <p:nvPr/>
        </p:nvSpPr>
        <p:spPr>
          <a:xfrm>
            <a:off x="2103120" y="5340096"/>
            <a:ext cx="0" cy="237744"/>
          </a:xfrm>
          <a:prstGeom prst="line">
            <a:avLst/>
          </a:prstGeom>
          <a:noFill/>
          <a:ln w="19050">
            <a:solidFill>
              <a:srgbClr val="7D9A8A"/>
            </a:solidFill>
            <a:prstDash val="solid"/>
          </a:ln>
        </p:spPr>
      </p:sp>
      <p:sp>
        <p:nvSpPr>
          <p:cNvPr id="34" name="fz-ny-l"/>
          <p:cNvSpPr/>
          <p:nvPr/>
        </p:nvSpPr>
        <p:spPr>
          <a:xfrm>
            <a:off x="6080760" y="5340096"/>
            <a:ext cx="0" cy="237744"/>
          </a:xfrm>
          <a:prstGeom prst="line">
            <a:avLst/>
          </a:prstGeom>
          <a:noFill/>
          <a:ln w="19050">
            <a:solidFill>
              <a:srgbClr val="7D9A8A"/>
            </a:solidFill>
            <a:prstDash val="solid"/>
          </a:ln>
        </p:spPr>
      </p:sp>
      <p:sp>
        <p:nvSpPr>
          <p:cNvPr id="35" name="fz-vz1"/>
          <p:cNvSpPr/>
          <p:nvPr/>
        </p:nvSpPr>
        <p:spPr>
          <a:xfrm>
            <a:off x="2103120" y="5577840"/>
            <a:ext cx="3977640" cy="0"/>
          </a:xfrm>
          <a:prstGeom prst="line">
            <a:avLst/>
          </a:prstGeom>
          <a:noFill/>
          <a:ln w="19050">
            <a:solidFill>
              <a:srgbClr val="7D9A8A"/>
            </a:solidFill>
            <a:prstDash val="solid"/>
          </a:ln>
        </p:spPr>
      </p:sp>
      <p:sp>
        <p:nvSpPr>
          <p:cNvPr id="36" name="fz-plusz"/>
          <p:cNvSpPr/>
          <p:nvPr/>
        </p:nvSpPr>
        <p:spPr>
          <a:xfrm>
            <a:off x="3918204" y="5577840"/>
            <a:ext cx="347472" cy="347472"/>
          </a:xfrm>
          <a:prstGeom prst="ellipse">
            <a:avLst/>
          </a:prstGeom>
          <a:solidFill>
            <a:srgbClr val="0070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3918204" y="55778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+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4347972" y="561441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3F6B55"/>
                </a:solidFill>
              </a:rPr>
              <a:t>összeadás a közös 256-os térben</a:t>
            </a:r>
            <a:endParaRPr lang="en-US" sz="950" dirty="0"/>
          </a:p>
        </p:txBody>
      </p:sp>
      <p:sp>
        <p:nvSpPr>
          <p:cNvPr id="39" name="fz-ny-add"/>
          <p:cNvSpPr/>
          <p:nvPr/>
        </p:nvSpPr>
        <p:spPr>
          <a:xfrm>
            <a:off x="4091940" y="5925312"/>
            <a:ext cx="0" cy="182880"/>
          </a:xfrm>
          <a:prstGeom prst="line">
            <a:avLst/>
          </a:prstGeom>
          <a:noFill/>
          <a:ln w="19050">
            <a:solidFill>
              <a:srgbClr val="7D9A8A"/>
            </a:solidFill>
            <a:prstDash val="solid"/>
            <a:tailEnd type="triangle"/>
          </a:ln>
        </p:spPr>
      </p:sp>
      <p:sp>
        <p:nvSpPr>
          <p:cNvPr id="40" name="fz-ny-a"/>
          <p:cNvSpPr/>
          <p:nvPr/>
        </p:nvSpPr>
        <p:spPr>
          <a:xfrm>
            <a:off x="10058400" y="5340096"/>
            <a:ext cx="0" cy="768096"/>
          </a:xfrm>
          <a:prstGeom prst="line">
            <a:avLst/>
          </a:prstGeom>
          <a:noFill/>
          <a:ln w="19050">
            <a:solidFill>
              <a:srgbClr val="7D9A8A"/>
            </a:solidFill>
            <a:prstDash val="solid"/>
            <a:tailEnd type="triangle"/>
          </a:ln>
        </p:spPr>
      </p:sp>
      <p:sp>
        <p:nvSpPr>
          <p:cNvPr id="41" name="fz-konkat"/>
          <p:cNvSpPr/>
          <p:nvPr/>
        </p:nvSpPr>
        <p:spPr>
          <a:xfrm>
            <a:off x="566928" y="6108192"/>
            <a:ext cx="11064240" cy="310896"/>
          </a:xfrm>
          <a:prstGeom prst="roundRect">
            <a:avLst>
              <a:gd name="adj" fmla="val 17647"/>
            </a:avLst>
          </a:prstGeom>
          <a:solidFill>
            <a:srgbClr val="CFE0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66928" y="610819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492A"/>
                </a:solidFill>
              </a:rPr>
              <a:t>Konkatenálás  →  SAC aktor és kritikus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550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D9A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492A"/>
                </a:solidFill>
              </a:rPr>
              <a:t>R1 — Sávtartás és szabályos előzés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11556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6B55"/>
                </a:solidFill>
              </a:rPr>
              <a:t>A kiindulási modell — kézzel formált tagok minden forgalmi helyzetre</a:t>
            </a:r>
            <a:endParaRPr lang="en-US" sz="1400" dirty="0"/>
          </a:p>
        </p:txBody>
      </p:sp>
      <p:sp>
        <p:nvSpPr>
          <p:cNvPr id="4" name="R1-pont-0"/>
          <p:cNvSpPr/>
          <p:nvPr/>
        </p:nvSpPr>
        <p:spPr>
          <a:xfrm>
            <a:off x="566928" y="1627632"/>
            <a:ext cx="5577840" cy="1024128"/>
          </a:xfrm>
          <a:prstGeom prst="roundRect">
            <a:avLst>
              <a:gd name="adj" fmla="val 5357"/>
            </a:avLst>
          </a:prstGeom>
          <a:solidFill>
            <a:srgbClr val="EEF2EE"/>
          </a:solidFill>
          <a:ln w="9525">
            <a:solidFill>
              <a:srgbClr val="CFE0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73736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492A"/>
                </a:solidFill>
              </a:rPr>
              <a:t>Szabad úton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029968"/>
            <a:ext cx="5166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00492A"/>
                </a:solidFill>
              </a:rPr>
              <a:t>négy tényező szorzata: sebesség, sávközép, irányszög és simaság</a:t>
            </a:r>
            <a:endParaRPr lang="en-US" sz="1200" dirty="0"/>
          </a:p>
        </p:txBody>
      </p:sp>
      <p:sp>
        <p:nvSpPr>
          <p:cNvPr id="7" name="R1-pont-1"/>
          <p:cNvSpPr/>
          <p:nvPr/>
        </p:nvSpPr>
        <p:spPr>
          <a:xfrm>
            <a:off x="566928" y="2761488"/>
            <a:ext cx="5577840" cy="1024128"/>
          </a:xfrm>
          <a:prstGeom prst="roundRect">
            <a:avLst>
              <a:gd name="adj" fmla="val 5357"/>
            </a:avLst>
          </a:prstGeom>
          <a:solidFill>
            <a:srgbClr val="EEF2EE"/>
          </a:solidFill>
          <a:ln w="9525">
            <a:solidFill>
              <a:srgbClr val="CFE0D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871216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492A"/>
                </a:solidFill>
              </a:rPr>
              <a:t>Követéskor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163824"/>
            <a:ext cx="5166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00492A"/>
                </a:solidFill>
              </a:rPr>
              <a:t>a lassabb jármű mögött a jutalom a távolságtól függ</a:t>
            </a:r>
            <a:endParaRPr lang="en-US" sz="1200" dirty="0"/>
          </a:p>
        </p:txBody>
      </p:sp>
      <p:sp>
        <p:nvSpPr>
          <p:cNvPr id="10" name="R1-pont-2"/>
          <p:cNvSpPr/>
          <p:nvPr/>
        </p:nvSpPr>
        <p:spPr>
          <a:xfrm>
            <a:off x="566928" y="3895344"/>
            <a:ext cx="5577840" cy="1024128"/>
          </a:xfrm>
          <a:prstGeom prst="roundRect">
            <a:avLst>
              <a:gd name="adj" fmla="val 5357"/>
            </a:avLst>
          </a:prstGeom>
          <a:solidFill>
            <a:srgbClr val="EEF2EE"/>
          </a:solidFill>
          <a:ln w="9525">
            <a:solidFill>
              <a:srgbClr val="CFE0D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4005072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492A"/>
                </a:solidFill>
              </a:rPr>
              <a:t>Előzésért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4297680"/>
            <a:ext cx="5166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00492A"/>
                </a:solidFill>
              </a:rPr>
              <a:t>+5 bónusz a szabályosan lezárt manőver végén</a:t>
            </a:r>
            <a:endParaRPr lang="en-US" sz="1200" dirty="0"/>
          </a:p>
        </p:txBody>
      </p:sp>
      <p:sp>
        <p:nvSpPr>
          <p:cNvPr id="13" name="R1-videohely"/>
          <p:cNvSpPr/>
          <p:nvPr/>
        </p:nvSpPr>
        <p:spPr>
          <a:xfrm>
            <a:off x="6400800" y="1627632"/>
            <a:ext cx="5230368" cy="2944368"/>
          </a:xfrm>
          <a:prstGeom prst="roundRect">
            <a:avLst>
              <a:gd name="adj" fmla="val 1863"/>
            </a:avLst>
          </a:prstGeom>
          <a:solidFill>
            <a:srgbClr val="EEF2EE"/>
          </a:solidFill>
          <a:ln w="19050">
            <a:solidFill>
              <a:srgbClr val="00492A"/>
            </a:solidFill>
            <a:prstDash val="dash"/>
          </a:ln>
        </p:spPr>
      </p:sp>
      <p:sp>
        <p:nvSpPr>
          <p:cNvPr id="14" name="R1-play-kor"/>
          <p:cNvSpPr/>
          <p:nvPr/>
        </p:nvSpPr>
        <p:spPr>
          <a:xfrm>
            <a:off x="8695944" y="2697480"/>
            <a:ext cx="640080" cy="640080"/>
          </a:xfrm>
          <a:prstGeom prst="ellipse">
            <a:avLst/>
          </a:prstGeom>
          <a:solidFill>
            <a:srgbClr val="0049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R1-play"/>
          <p:cNvSpPr/>
          <p:nvPr/>
        </p:nvSpPr>
        <p:spPr>
          <a:xfrm rot="5400000">
            <a:off x="8897112" y="2834640"/>
            <a:ext cx="301752" cy="365760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92240" y="3456432"/>
            <a:ext cx="5047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492A"/>
                </a:solidFill>
              </a:rPr>
              <a:t>Ide kerül a videó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3749040"/>
            <a:ext cx="5047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F6B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eval/videos/R1_&lt;scene&gt;_rep1.mp4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4041648"/>
            <a:ext cx="5047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F6B55"/>
                </a:solidFill>
              </a:rPr>
              <a:t>Beszúrás ▸ Videó ▸ Eszköz ezen a gépen</a:t>
            </a:r>
            <a:endParaRPr lang="en-US" sz="1000" dirty="0"/>
          </a:p>
        </p:txBody>
      </p:sp>
      <p:sp>
        <p:nvSpPr>
          <p:cNvPr id="19" name="R1-eredmeny"/>
          <p:cNvSpPr/>
          <p:nvPr/>
        </p:nvSpPr>
        <p:spPr>
          <a:xfrm>
            <a:off x="566928" y="5138928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0049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68680" y="5138928"/>
            <a:ext cx="104607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94,0 % szabályos elhaladás · 86,4 % sávközép — mindkettő a legjobb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550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D9A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492A"/>
                </a:solidFill>
              </a:rPr>
              <a:t>R2 — Ütközésidő-büntetés előzhető helyzetben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11556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6B55"/>
                </a:solidFill>
              </a:rPr>
              <a:t>Egyetlen változtatás az R1-hez képest</a:t>
            </a:r>
            <a:endParaRPr lang="en-US" sz="1400" dirty="0"/>
          </a:p>
        </p:txBody>
      </p:sp>
      <p:sp>
        <p:nvSpPr>
          <p:cNvPr id="4" name="R2-pont-0"/>
          <p:cNvSpPr/>
          <p:nvPr/>
        </p:nvSpPr>
        <p:spPr>
          <a:xfrm>
            <a:off x="566928" y="1627632"/>
            <a:ext cx="5577840" cy="1024128"/>
          </a:xfrm>
          <a:prstGeom prst="roundRect">
            <a:avLst>
              <a:gd name="adj" fmla="val 5357"/>
            </a:avLst>
          </a:prstGeom>
          <a:solidFill>
            <a:srgbClr val="EEF2EE"/>
          </a:solidFill>
          <a:ln w="9525">
            <a:solidFill>
              <a:srgbClr val="CFE0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73736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03C"/>
                </a:solidFill>
              </a:rPr>
              <a:t>A változtatás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029968"/>
            <a:ext cx="5166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00492A"/>
                </a:solidFill>
              </a:rPr>
              <a:t>a TTC-büntetés az előzhető állapotra is kiterjed (7 s küszöb, 0,3 súly)</a:t>
            </a:r>
            <a:endParaRPr lang="en-US" sz="1200" dirty="0"/>
          </a:p>
        </p:txBody>
      </p:sp>
      <p:sp>
        <p:nvSpPr>
          <p:cNvPr id="7" name="R2-pont-1"/>
          <p:cNvSpPr/>
          <p:nvPr/>
        </p:nvSpPr>
        <p:spPr>
          <a:xfrm>
            <a:off x="566928" y="2761488"/>
            <a:ext cx="5577840" cy="1024128"/>
          </a:xfrm>
          <a:prstGeom prst="roundRect">
            <a:avLst>
              <a:gd name="adj" fmla="val 5357"/>
            </a:avLst>
          </a:prstGeom>
          <a:solidFill>
            <a:srgbClr val="EEF2EE"/>
          </a:solidFill>
          <a:ln w="9525">
            <a:solidFill>
              <a:srgbClr val="CFE0D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871216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03C"/>
                </a:solidFill>
              </a:rPr>
              <a:t>A várakozás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163824"/>
            <a:ext cx="5166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00492A"/>
                </a:solidFill>
              </a:rPr>
              <a:t>az ágens hamarabb kezdjen előzni, ha közeledik az előtte haladóhoz</a:t>
            </a:r>
            <a:endParaRPr lang="en-US" sz="1200" dirty="0"/>
          </a:p>
        </p:txBody>
      </p:sp>
      <p:sp>
        <p:nvSpPr>
          <p:cNvPr id="10" name="R2-pont-2"/>
          <p:cNvSpPr/>
          <p:nvPr/>
        </p:nvSpPr>
        <p:spPr>
          <a:xfrm>
            <a:off x="566928" y="3895344"/>
            <a:ext cx="5577840" cy="1024128"/>
          </a:xfrm>
          <a:prstGeom prst="roundRect">
            <a:avLst>
              <a:gd name="adj" fmla="val 5357"/>
            </a:avLst>
          </a:prstGeom>
          <a:solidFill>
            <a:srgbClr val="EEF2EE"/>
          </a:solidFill>
          <a:ln w="9525">
            <a:solidFill>
              <a:srgbClr val="CFE0D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4005072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03C"/>
                </a:solidFill>
              </a:rPr>
              <a:t>Ami történt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4297680"/>
            <a:ext cx="5166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00492A"/>
                </a:solidFill>
              </a:rPr>
              <a:t>ehelyett óvatosabb lett: kevesebbet és későbben előzött</a:t>
            </a:r>
            <a:endParaRPr lang="en-US" sz="1200" dirty="0"/>
          </a:p>
        </p:txBody>
      </p:sp>
      <p:sp>
        <p:nvSpPr>
          <p:cNvPr id="13" name="R2-videohely"/>
          <p:cNvSpPr/>
          <p:nvPr/>
        </p:nvSpPr>
        <p:spPr>
          <a:xfrm>
            <a:off x="6400800" y="1627632"/>
            <a:ext cx="5230368" cy="2944368"/>
          </a:xfrm>
          <a:prstGeom prst="roundRect">
            <a:avLst>
              <a:gd name="adj" fmla="val 1863"/>
            </a:avLst>
          </a:prstGeom>
          <a:solidFill>
            <a:srgbClr val="EEF2EE"/>
          </a:solidFill>
          <a:ln w="19050">
            <a:solidFill>
              <a:srgbClr val="00703C"/>
            </a:solidFill>
            <a:prstDash val="dash"/>
          </a:ln>
        </p:spPr>
      </p:sp>
      <p:sp>
        <p:nvSpPr>
          <p:cNvPr id="14" name="R2-play-kor"/>
          <p:cNvSpPr/>
          <p:nvPr/>
        </p:nvSpPr>
        <p:spPr>
          <a:xfrm>
            <a:off x="8695944" y="2697480"/>
            <a:ext cx="640080" cy="640080"/>
          </a:xfrm>
          <a:prstGeom prst="ellipse">
            <a:avLst/>
          </a:prstGeom>
          <a:solidFill>
            <a:srgbClr val="0070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R2-play"/>
          <p:cNvSpPr/>
          <p:nvPr/>
        </p:nvSpPr>
        <p:spPr>
          <a:xfrm rot="5400000">
            <a:off x="8897112" y="2834640"/>
            <a:ext cx="301752" cy="365760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92240" y="3456432"/>
            <a:ext cx="5047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703C"/>
                </a:solidFill>
              </a:rPr>
              <a:t>Ide kerül a videó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3749040"/>
            <a:ext cx="5047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F6B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eval/videos/R2_&lt;scene&gt;_rep1.mp4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4041648"/>
            <a:ext cx="5047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F6B55"/>
                </a:solidFill>
              </a:rPr>
              <a:t>Beszúrás ▸ Videó ▸ Eszköz ezen a gépen</a:t>
            </a:r>
            <a:endParaRPr lang="en-US" sz="1000" dirty="0"/>
          </a:p>
        </p:txBody>
      </p:sp>
      <p:sp>
        <p:nvSpPr>
          <p:cNvPr id="19" name="R2-eredmeny"/>
          <p:cNvSpPr/>
          <p:nvPr/>
        </p:nvSpPr>
        <p:spPr>
          <a:xfrm>
            <a:off x="566928" y="5138928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0070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68680" y="5138928"/>
            <a:ext cx="104607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Az elhaladás 1009 → 827, a sikeres kísérlet 74,6 % → 60,4 %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550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D9A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492A"/>
                </a:solidFill>
              </a:rPr>
              <a:t>R3 — Hangolás bátrabb előzésre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11556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6B55"/>
                </a:solidFill>
              </a:rPr>
              <a:t>Négy ponton hangoltam, hogy megérje kiállni előzni</a:t>
            </a:r>
            <a:endParaRPr lang="en-US" sz="1400" dirty="0"/>
          </a:p>
        </p:txBody>
      </p:sp>
      <p:sp>
        <p:nvSpPr>
          <p:cNvPr id="4" name="R3-pont-0"/>
          <p:cNvSpPr/>
          <p:nvPr/>
        </p:nvSpPr>
        <p:spPr>
          <a:xfrm>
            <a:off x="566928" y="1627632"/>
            <a:ext cx="5577840" cy="1024128"/>
          </a:xfrm>
          <a:prstGeom prst="roundRect">
            <a:avLst>
              <a:gd name="adj" fmla="val 5357"/>
            </a:avLst>
          </a:prstGeom>
          <a:solidFill>
            <a:srgbClr val="EEF2EE"/>
          </a:solidFill>
          <a:ln w="9525">
            <a:solidFill>
              <a:srgbClr val="CFE0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73736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03C"/>
                </a:solidFill>
              </a:rPr>
              <a:t>TTC-büntetés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029968"/>
            <a:ext cx="5166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00492A"/>
                </a:solidFill>
              </a:rPr>
              <a:t>küszöb 7 → 3 s, súly 0,3 → 0,6 — csak a tényleges késlekedést bünteti</a:t>
            </a:r>
            <a:endParaRPr lang="en-US" sz="1200" dirty="0"/>
          </a:p>
        </p:txBody>
      </p:sp>
      <p:sp>
        <p:nvSpPr>
          <p:cNvPr id="7" name="R3-pont-1"/>
          <p:cNvSpPr/>
          <p:nvPr/>
        </p:nvSpPr>
        <p:spPr>
          <a:xfrm>
            <a:off x="566928" y="2761488"/>
            <a:ext cx="5577840" cy="1024128"/>
          </a:xfrm>
          <a:prstGeom prst="roundRect">
            <a:avLst>
              <a:gd name="adj" fmla="val 5357"/>
            </a:avLst>
          </a:prstGeom>
          <a:solidFill>
            <a:srgbClr val="EEF2EE"/>
          </a:solidFill>
          <a:ln w="9525">
            <a:solidFill>
              <a:srgbClr val="CFE0D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871216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03C"/>
                </a:solidFill>
              </a:rPr>
              <a:t>Előzési jutalom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163824"/>
            <a:ext cx="5166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00492A"/>
                </a:solidFill>
              </a:rPr>
              <a:t>50 km/h-nál 0,90 → 1,10, hogy többet érjen a bal sáv</a:t>
            </a:r>
            <a:endParaRPr lang="en-US" sz="1200" dirty="0"/>
          </a:p>
        </p:txBody>
      </p:sp>
      <p:sp>
        <p:nvSpPr>
          <p:cNvPr id="10" name="R3-pont-2"/>
          <p:cNvSpPr/>
          <p:nvPr/>
        </p:nvSpPr>
        <p:spPr>
          <a:xfrm>
            <a:off x="566928" y="3895344"/>
            <a:ext cx="5577840" cy="1024128"/>
          </a:xfrm>
          <a:prstGeom prst="roundRect">
            <a:avLst>
              <a:gd name="adj" fmla="val 5357"/>
            </a:avLst>
          </a:prstGeom>
          <a:solidFill>
            <a:srgbClr val="EEF2EE"/>
          </a:solidFill>
          <a:ln w="9525">
            <a:solidFill>
              <a:srgbClr val="CFE0D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4005072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03C"/>
                </a:solidFill>
              </a:rPr>
              <a:t>A +5 bónusz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4297680"/>
            <a:ext cx="5166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00492A"/>
                </a:solidFill>
              </a:rPr>
              <a:t>kettébontva: +2 elhaladáskor, +3 visszasoroláskor</a:t>
            </a:r>
            <a:endParaRPr lang="en-US" sz="1200" dirty="0"/>
          </a:p>
        </p:txBody>
      </p:sp>
      <p:sp>
        <p:nvSpPr>
          <p:cNvPr id="13" name="R3-videohely"/>
          <p:cNvSpPr/>
          <p:nvPr/>
        </p:nvSpPr>
        <p:spPr>
          <a:xfrm>
            <a:off x="6400800" y="1627632"/>
            <a:ext cx="5230368" cy="2944368"/>
          </a:xfrm>
          <a:prstGeom prst="roundRect">
            <a:avLst>
              <a:gd name="adj" fmla="val 1863"/>
            </a:avLst>
          </a:prstGeom>
          <a:solidFill>
            <a:srgbClr val="EEF2EE"/>
          </a:solidFill>
          <a:ln w="19050">
            <a:solidFill>
              <a:srgbClr val="00703C"/>
            </a:solidFill>
            <a:prstDash val="dash"/>
          </a:ln>
        </p:spPr>
      </p:sp>
      <p:sp>
        <p:nvSpPr>
          <p:cNvPr id="14" name="R3-play-kor"/>
          <p:cNvSpPr/>
          <p:nvPr/>
        </p:nvSpPr>
        <p:spPr>
          <a:xfrm>
            <a:off x="8695944" y="2697480"/>
            <a:ext cx="640080" cy="640080"/>
          </a:xfrm>
          <a:prstGeom prst="ellipse">
            <a:avLst/>
          </a:prstGeom>
          <a:solidFill>
            <a:srgbClr val="0070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R3-play"/>
          <p:cNvSpPr/>
          <p:nvPr/>
        </p:nvSpPr>
        <p:spPr>
          <a:xfrm rot="5400000">
            <a:off x="8897112" y="2834640"/>
            <a:ext cx="301752" cy="365760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92240" y="3456432"/>
            <a:ext cx="5047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703C"/>
                </a:solidFill>
              </a:rPr>
              <a:t>Ide kerül a videó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3749040"/>
            <a:ext cx="5047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F6B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eval/videos/R3_&lt;scene&gt;_rep1.mp4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4041648"/>
            <a:ext cx="5047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F6B55"/>
                </a:solidFill>
              </a:rPr>
              <a:t>Beszúrás ▸ Videó ▸ Eszköz ezen a gépen</a:t>
            </a:r>
            <a:endParaRPr lang="en-US" sz="1000" dirty="0"/>
          </a:p>
        </p:txBody>
      </p:sp>
      <p:sp>
        <p:nvSpPr>
          <p:cNvPr id="19" name="R3-eredmeny"/>
          <p:cNvSpPr/>
          <p:nvPr/>
        </p:nvSpPr>
        <p:spPr>
          <a:xfrm>
            <a:off x="566928" y="5138928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0070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68680" y="5138928"/>
            <a:ext cx="104607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Mégis ez előzött a legkevesebbet: 556 elhaladás, 45,8 % sikeres kísérlet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550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D9A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492A"/>
                </a:solidFill>
              </a:rPr>
              <a:t>R4 — Haladásalapú jutalom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11556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6B55"/>
                </a:solidFill>
              </a:rPr>
              <a:t>Új megközelítés: a kézi tagok helyett egyetlen fizikai mennyiség</a:t>
            </a:r>
            <a:endParaRPr lang="en-US" sz="1400" dirty="0"/>
          </a:p>
        </p:txBody>
      </p:sp>
      <p:sp>
        <p:nvSpPr>
          <p:cNvPr id="4" name="R4-pont-0"/>
          <p:cNvSpPr/>
          <p:nvPr/>
        </p:nvSpPr>
        <p:spPr>
          <a:xfrm>
            <a:off x="566928" y="1627632"/>
            <a:ext cx="5577840" cy="1024128"/>
          </a:xfrm>
          <a:prstGeom prst="roundRect">
            <a:avLst>
              <a:gd name="adj" fmla="val 5357"/>
            </a:avLst>
          </a:prstGeom>
          <a:solidFill>
            <a:srgbClr val="EEF2EE"/>
          </a:solidFill>
          <a:ln w="9525">
            <a:solidFill>
              <a:srgbClr val="CFE0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73736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912F"/>
                </a:solidFill>
              </a:rPr>
              <a:t>A jutalom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029968"/>
            <a:ext cx="5166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00492A"/>
                </a:solidFill>
              </a:rPr>
              <a:t>r = v · cos θ · l · k — az útvonal mentén megtett elmozdulás</a:t>
            </a:r>
            <a:endParaRPr lang="en-US" sz="1200" dirty="0"/>
          </a:p>
        </p:txBody>
      </p:sp>
      <p:sp>
        <p:nvSpPr>
          <p:cNvPr id="7" name="R4-pont-1"/>
          <p:cNvSpPr/>
          <p:nvPr/>
        </p:nvSpPr>
        <p:spPr>
          <a:xfrm>
            <a:off x="566928" y="2761488"/>
            <a:ext cx="5577840" cy="1024128"/>
          </a:xfrm>
          <a:prstGeom prst="roundRect">
            <a:avLst>
              <a:gd name="adj" fmla="val 5357"/>
            </a:avLst>
          </a:prstGeom>
          <a:solidFill>
            <a:srgbClr val="EEF2EE"/>
          </a:solidFill>
          <a:ln w="9525">
            <a:solidFill>
              <a:srgbClr val="CFE0D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871216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912F"/>
                </a:solidFill>
              </a:rPr>
              <a:t>Az ötlet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163824"/>
            <a:ext cx="5166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00492A"/>
                </a:solidFill>
              </a:rPr>
              <a:t>a lassabb jármű mögött a haladás magától kevesebbet ér</a:t>
            </a:r>
            <a:endParaRPr lang="en-US" sz="1200" dirty="0"/>
          </a:p>
        </p:txBody>
      </p:sp>
      <p:sp>
        <p:nvSpPr>
          <p:cNvPr id="10" name="R4-pont-2"/>
          <p:cNvSpPr/>
          <p:nvPr/>
        </p:nvSpPr>
        <p:spPr>
          <a:xfrm>
            <a:off x="566928" y="3895344"/>
            <a:ext cx="5577840" cy="1024128"/>
          </a:xfrm>
          <a:prstGeom prst="roundRect">
            <a:avLst>
              <a:gd name="adj" fmla="val 5357"/>
            </a:avLst>
          </a:prstGeom>
          <a:solidFill>
            <a:srgbClr val="EEF2EE"/>
          </a:solidFill>
          <a:ln w="9525">
            <a:solidFill>
              <a:srgbClr val="CFE0D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4005072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912F"/>
                </a:solidFill>
              </a:rPr>
              <a:t>Ami maradt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4297680"/>
            <a:ext cx="5166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00492A"/>
                </a:solidFill>
              </a:rPr>
              <a:t>az epizódzáró büntetések, az előzési állapotgép és a +5 bónusz</a:t>
            </a:r>
            <a:endParaRPr lang="en-US" sz="1200" dirty="0"/>
          </a:p>
        </p:txBody>
      </p:sp>
      <p:sp>
        <p:nvSpPr>
          <p:cNvPr id="13" name="R4-videohely"/>
          <p:cNvSpPr/>
          <p:nvPr/>
        </p:nvSpPr>
        <p:spPr>
          <a:xfrm>
            <a:off x="6400800" y="1627632"/>
            <a:ext cx="5230368" cy="2944368"/>
          </a:xfrm>
          <a:prstGeom prst="roundRect">
            <a:avLst>
              <a:gd name="adj" fmla="val 1863"/>
            </a:avLst>
          </a:prstGeom>
          <a:solidFill>
            <a:srgbClr val="EEF2EE"/>
          </a:solidFill>
          <a:ln w="19050">
            <a:solidFill>
              <a:srgbClr val="C8912F"/>
            </a:solidFill>
            <a:prstDash val="dash"/>
          </a:ln>
        </p:spPr>
      </p:sp>
      <p:sp>
        <p:nvSpPr>
          <p:cNvPr id="14" name="R4-play-kor"/>
          <p:cNvSpPr/>
          <p:nvPr/>
        </p:nvSpPr>
        <p:spPr>
          <a:xfrm>
            <a:off x="8695944" y="2697480"/>
            <a:ext cx="640080" cy="640080"/>
          </a:xfrm>
          <a:prstGeom prst="ellipse">
            <a:avLst/>
          </a:prstGeom>
          <a:solidFill>
            <a:srgbClr val="C891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R4-play"/>
          <p:cNvSpPr/>
          <p:nvPr/>
        </p:nvSpPr>
        <p:spPr>
          <a:xfrm rot="5400000">
            <a:off x="8897112" y="2834640"/>
            <a:ext cx="301752" cy="365760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92240" y="3456432"/>
            <a:ext cx="5047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912F"/>
                </a:solidFill>
              </a:rPr>
              <a:t>Ide kerül a videó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3749040"/>
            <a:ext cx="5047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F6B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eval/videos/R4_&lt;scene&gt;_rep1.mp4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4041648"/>
            <a:ext cx="5047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F6B55"/>
                </a:solidFill>
              </a:rPr>
              <a:t>Beszúrás ▸ Videó ▸ Eszköz ezen a gépen</a:t>
            </a:r>
            <a:endParaRPr lang="en-US" sz="1000" dirty="0"/>
          </a:p>
        </p:txBody>
      </p:sp>
      <p:sp>
        <p:nvSpPr>
          <p:cNvPr id="19" name="R4-eredmeny"/>
          <p:cNvSpPr/>
          <p:nvPr/>
        </p:nvSpPr>
        <p:spPr>
          <a:xfrm>
            <a:off x="566928" y="5138928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C891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68680" y="5138928"/>
            <a:ext cx="104607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Kézi ösztönzés nélkül visszatért az előzés: 1018 elhaladás, 72,3 % siker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550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D9A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492A"/>
                </a:solidFill>
              </a:rPr>
              <a:t>R5 — Potenciálalapú jutalomformálás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11556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6B55"/>
                </a:solidFill>
              </a:rPr>
              <a:t>R4 + egyetlen tag, ami előbbre hozza a jutalmat</a:t>
            </a:r>
            <a:endParaRPr lang="en-US" sz="1400" dirty="0"/>
          </a:p>
        </p:txBody>
      </p:sp>
      <p:sp>
        <p:nvSpPr>
          <p:cNvPr id="4" name="R5-pont-0"/>
          <p:cNvSpPr/>
          <p:nvPr/>
        </p:nvSpPr>
        <p:spPr>
          <a:xfrm>
            <a:off x="566928" y="1627632"/>
            <a:ext cx="5577840" cy="1024128"/>
          </a:xfrm>
          <a:prstGeom prst="roundRect">
            <a:avLst>
              <a:gd name="adj" fmla="val 5357"/>
            </a:avLst>
          </a:prstGeom>
          <a:solidFill>
            <a:srgbClr val="EEF2EE"/>
          </a:solidFill>
          <a:ln w="9525">
            <a:solidFill>
              <a:srgbClr val="CFE0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73736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912F"/>
                </a:solidFill>
              </a:rPr>
              <a:t>A probléma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029968"/>
            <a:ext cx="5166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00492A"/>
                </a:solidFill>
              </a:rPr>
              <a:t>a +5 csak a manőver végén jár — a kihúzódáskor már csak 0,66-ot ér</a:t>
            </a:r>
            <a:endParaRPr lang="en-US" sz="1200" dirty="0"/>
          </a:p>
        </p:txBody>
      </p:sp>
      <p:sp>
        <p:nvSpPr>
          <p:cNvPr id="7" name="R5-pont-1"/>
          <p:cNvSpPr/>
          <p:nvPr/>
        </p:nvSpPr>
        <p:spPr>
          <a:xfrm>
            <a:off x="566928" y="2761488"/>
            <a:ext cx="5577840" cy="1024128"/>
          </a:xfrm>
          <a:prstGeom prst="roundRect">
            <a:avLst>
              <a:gd name="adj" fmla="val 5357"/>
            </a:avLst>
          </a:prstGeom>
          <a:solidFill>
            <a:srgbClr val="EEF2EE"/>
          </a:solidFill>
          <a:ln w="9525">
            <a:solidFill>
              <a:srgbClr val="CFE0D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871216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912F"/>
                </a:solidFill>
              </a:rPr>
              <a:t>A megoldás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163824"/>
            <a:ext cx="5166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00492A"/>
                </a:solidFill>
              </a:rPr>
              <a:t>F = γ·Φ(s') − Φ(s), a potenciál az előzés előrehaladását méri</a:t>
            </a:r>
            <a:endParaRPr lang="en-US" sz="1200" dirty="0"/>
          </a:p>
        </p:txBody>
      </p:sp>
      <p:sp>
        <p:nvSpPr>
          <p:cNvPr id="10" name="R5-pont-2"/>
          <p:cNvSpPr/>
          <p:nvPr/>
        </p:nvSpPr>
        <p:spPr>
          <a:xfrm>
            <a:off x="566928" y="3895344"/>
            <a:ext cx="5577840" cy="1024128"/>
          </a:xfrm>
          <a:prstGeom prst="roundRect">
            <a:avLst>
              <a:gd name="adj" fmla="val 5357"/>
            </a:avLst>
          </a:prstGeom>
          <a:solidFill>
            <a:srgbClr val="EEF2EE"/>
          </a:solidFill>
          <a:ln w="9525">
            <a:solidFill>
              <a:srgbClr val="CFE0D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4005072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912F"/>
                </a:solidFill>
              </a:rPr>
              <a:t>Az elmélet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4297680"/>
            <a:ext cx="5166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00492A"/>
                </a:solidFill>
              </a:rPr>
              <a:t>Ng és társai szerint ez nem változtatja meg az optimális stratégiát</a:t>
            </a:r>
            <a:endParaRPr lang="en-US" sz="1200" dirty="0"/>
          </a:p>
        </p:txBody>
      </p:sp>
      <p:sp>
        <p:nvSpPr>
          <p:cNvPr id="13" name="R5-videohely"/>
          <p:cNvSpPr/>
          <p:nvPr/>
        </p:nvSpPr>
        <p:spPr>
          <a:xfrm>
            <a:off x="6400800" y="1627632"/>
            <a:ext cx="5230368" cy="2944368"/>
          </a:xfrm>
          <a:prstGeom prst="roundRect">
            <a:avLst>
              <a:gd name="adj" fmla="val 1863"/>
            </a:avLst>
          </a:prstGeom>
          <a:solidFill>
            <a:srgbClr val="EEF2EE"/>
          </a:solidFill>
          <a:ln w="19050">
            <a:solidFill>
              <a:srgbClr val="C8912F"/>
            </a:solidFill>
            <a:prstDash val="dash"/>
          </a:ln>
        </p:spPr>
      </p:sp>
      <p:sp>
        <p:nvSpPr>
          <p:cNvPr id="14" name="R5-play-kor"/>
          <p:cNvSpPr/>
          <p:nvPr/>
        </p:nvSpPr>
        <p:spPr>
          <a:xfrm>
            <a:off x="8695944" y="2697480"/>
            <a:ext cx="640080" cy="640080"/>
          </a:xfrm>
          <a:prstGeom prst="ellipse">
            <a:avLst/>
          </a:prstGeom>
          <a:solidFill>
            <a:srgbClr val="C891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R5-play"/>
          <p:cNvSpPr/>
          <p:nvPr/>
        </p:nvSpPr>
        <p:spPr>
          <a:xfrm rot="5400000">
            <a:off x="8897112" y="2834640"/>
            <a:ext cx="301752" cy="365760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92240" y="3456432"/>
            <a:ext cx="5047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912F"/>
                </a:solidFill>
              </a:rPr>
              <a:t>Ide kerül a videó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3749040"/>
            <a:ext cx="5047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F6B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eval/videos/R5_&lt;scene&gt;_rep1.mp4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4041648"/>
            <a:ext cx="5047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F6B55"/>
                </a:solidFill>
              </a:rPr>
              <a:t>Beszúrás ▸ Videó ▸ Eszköz ezen a gépen</a:t>
            </a:r>
            <a:endParaRPr lang="en-US" sz="1000" dirty="0"/>
          </a:p>
        </p:txBody>
      </p:sp>
      <p:sp>
        <p:nvSpPr>
          <p:cNvPr id="19" name="R5-eredmeny"/>
          <p:cNvSpPr/>
          <p:nvPr/>
        </p:nvSpPr>
        <p:spPr>
          <a:xfrm>
            <a:off x="566928" y="5138928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C891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68680" y="5138928"/>
            <a:ext cx="104607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 leggyorsabb (40,1 km/h), legjobb sikerarány (75,0 %), legkisebb elütés (10,2 %)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550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D9A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492A"/>
                </a:solidFill>
              </a:rPr>
              <a:t>Mérési szcenáriók és módszertan</a:t>
            </a:r>
            <a:endParaRPr lang="en-US" sz="3200" dirty="0"/>
          </a:p>
        </p:txBody>
      </p:sp>
      <p:pic>
        <p:nvPicPr>
          <p:cNvPr id="3" name="utvonalak" descr="/tmp/claude-1000/-home-labor-CARLA-DAVID-TDK-RL-carla-ROS2/715fc7ab-c6b5-49bf-a3d7-cea8d961abde/scratchpad/img/routes_highw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1234440"/>
            <a:ext cx="4754880" cy="35661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858000" y="48463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6B55"/>
                </a:solidFill>
              </a:rPr>
              <a:t>Autópályás kiértékelő útvonalak a Town04 térképen</a:t>
            </a:r>
            <a:endParaRPr lang="en-US" sz="1000" dirty="0"/>
          </a:p>
        </p:txBody>
      </p:sp>
      <p:sp>
        <p:nvSpPr>
          <p:cNvPr id="5" name="st-1"/>
          <p:cNvSpPr/>
          <p:nvPr/>
        </p:nvSpPr>
        <p:spPr>
          <a:xfrm>
            <a:off x="566928" y="1234440"/>
            <a:ext cx="1920240" cy="1143000"/>
          </a:xfrm>
          <a:prstGeom prst="roundRect">
            <a:avLst>
              <a:gd name="adj" fmla="val 4800"/>
            </a:avLst>
          </a:prstGeom>
          <a:solidFill>
            <a:srgbClr val="EEF2EE"/>
          </a:solidFill>
          <a:ln w="9525">
            <a:solidFill>
              <a:srgbClr val="CFE0D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66928" y="1399032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703C"/>
                </a:solidFill>
              </a:rPr>
              <a:t>10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676656" y="2103120"/>
            <a:ext cx="1700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F6B55"/>
                </a:solidFill>
              </a:rPr>
              <a:t>útvonal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F6B55"/>
                </a:solidFill>
              </a:rPr>
              <a:t>1,05–6,09 km</a:t>
            </a:r>
            <a:endParaRPr lang="en-US" sz="1200" dirty="0"/>
          </a:p>
        </p:txBody>
      </p:sp>
      <p:sp>
        <p:nvSpPr>
          <p:cNvPr id="8" name="st-2"/>
          <p:cNvSpPr/>
          <p:nvPr/>
        </p:nvSpPr>
        <p:spPr>
          <a:xfrm>
            <a:off x="2633472" y="1234440"/>
            <a:ext cx="1920240" cy="1143000"/>
          </a:xfrm>
          <a:prstGeom prst="roundRect">
            <a:avLst>
              <a:gd name="adj" fmla="val 4800"/>
            </a:avLst>
          </a:prstGeom>
          <a:solidFill>
            <a:srgbClr val="EEF2EE"/>
          </a:solidFill>
          <a:ln w="9525">
            <a:solidFill>
              <a:srgbClr val="CFE0D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633472" y="1399032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703C"/>
                </a:solidFill>
              </a:rPr>
              <a:t>5×</a:t>
            </a:r>
            <a:endParaRPr lang="en-US" sz="3400" dirty="0"/>
          </a:p>
        </p:txBody>
      </p:sp>
      <p:sp>
        <p:nvSpPr>
          <p:cNvPr id="10" name="Text 7"/>
          <p:cNvSpPr txBox="1"/>
          <p:nvPr/>
        </p:nvSpPr>
        <p:spPr>
          <a:xfrm>
            <a:off x="2743200" y="2103120"/>
            <a:ext cx="1700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F6B55"/>
                </a:solidFill>
              </a:rPr>
              <a:t>ismétlés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F6B55"/>
                </a:solidFill>
              </a:rPr>
              <a:t>útvonalonként</a:t>
            </a:r>
            <a:endParaRPr lang="en-US" sz="1200" dirty="0"/>
          </a:p>
        </p:txBody>
      </p:sp>
      <p:sp>
        <p:nvSpPr>
          <p:cNvPr id="11" name="st-3"/>
          <p:cNvSpPr/>
          <p:nvPr/>
        </p:nvSpPr>
        <p:spPr>
          <a:xfrm>
            <a:off x="4700016" y="1234440"/>
            <a:ext cx="1920240" cy="1143000"/>
          </a:xfrm>
          <a:prstGeom prst="roundRect">
            <a:avLst>
              <a:gd name="adj" fmla="val 4800"/>
            </a:avLst>
          </a:prstGeom>
          <a:solidFill>
            <a:srgbClr val="EEF2EE"/>
          </a:solidFill>
          <a:ln w="9525">
            <a:solidFill>
              <a:srgbClr val="CFE0D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700016" y="1399032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8912F"/>
                </a:solidFill>
              </a:rPr>
              <a:t>250</a:t>
            </a:r>
            <a:endParaRPr lang="en-US" sz="3400" dirty="0"/>
          </a:p>
        </p:txBody>
      </p:sp>
      <p:sp>
        <p:nvSpPr>
          <p:cNvPr id="13" name="Text 10"/>
          <p:cNvSpPr txBox="1"/>
          <p:nvPr/>
        </p:nvSpPr>
        <p:spPr>
          <a:xfrm>
            <a:off x="4809744" y="2103120"/>
            <a:ext cx="1700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F6B55"/>
                </a:solidFill>
              </a:rPr>
              <a:t>bejárás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F6B55"/>
                </a:solidFill>
              </a:rPr>
              <a:t>modellenként 50</a:t>
            </a:r>
            <a:endParaRPr lang="en-US" sz="1200" dirty="0"/>
          </a:p>
        </p:txBody>
      </p:sp>
      <p:sp>
        <p:nvSpPr>
          <p:cNvPr id="14" name="pont-0"/>
          <p:cNvSpPr/>
          <p:nvPr/>
        </p:nvSpPr>
        <p:spPr>
          <a:xfrm>
            <a:off x="594360" y="2660904"/>
            <a:ext cx="182880" cy="182880"/>
          </a:xfrm>
          <a:prstGeom prst="ellipse">
            <a:avLst/>
          </a:prstGeom>
          <a:solidFill>
            <a:srgbClr val="0070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14400" y="260604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492A"/>
                </a:solidFill>
              </a:rPr>
              <a:t>Azonos forgalom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2880360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492A"/>
                </a:solidFill>
              </a:rPr>
              <a:t>A véletlengenerátor kezdőértékét fixáltam, így adott körben minden modell ugyanazt a forgalmat kapja.</a:t>
            </a:r>
            <a:endParaRPr lang="en-US" sz="1150" dirty="0"/>
          </a:p>
        </p:txBody>
      </p:sp>
      <p:sp>
        <p:nvSpPr>
          <p:cNvPr id="17" name="pont-1"/>
          <p:cNvSpPr/>
          <p:nvPr/>
        </p:nvSpPr>
        <p:spPr>
          <a:xfrm>
            <a:off x="594360" y="3575304"/>
            <a:ext cx="182880" cy="182880"/>
          </a:xfrm>
          <a:prstGeom prst="ellipse">
            <a:avLst/>
          </a:prstGeom>
          <a:solidFill>
            <a:srgbClr val="0070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14400" y="352044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492A"/>
                </a:solidFill>
              </a:rPr>
              <a:t>Nem áll le hibánál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" y="3794760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492A"/>
                </a:solidFill>
              </a:rPr>
              <a:t>Letérés, megállás vagy túlgyorsulás esetén felírom a hibát, visszahelyezem az autót, és a jelenet folytatódik.</a:t>
            </a:r>
            <a:endParaRPr lang="en-US" sz="1150" dirty="0"/>
          </a:p>
        </p:txBody>
      </p:sp>
      <p:sp>
        <p:nvSpPr>
          <p:cNvPr id="20" name="pont-2"/>
          <p:cNvSpPr/>
          <p:nvPr/>
        </p:nvSpPr>
        <p:spPr>
          <a:xfrm>
            <a:off x="594360" y="4489704"/>
            <a:ext cx="182880" cy="182880"/>
          </a:xfrm>
          <a:prstGeom prst="ellipse">
            <a:avLst/>
          </a:prstGeom>
          <a:solidFill>
            <a:srgbClr val="0070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14400" y="443484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492A"/>
                </a:solidFill>
              </a:rPr>
              <a:t>Jutalomfüggetlen metrikák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914400" y="4709160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492A"/>
                </a:solidFill>
              </a:rPr>
              <a:t>A kapott jutalmat nem hasonlítom össze — minden modell más függvénnyel tanult. A fizikai viselkedést mérem.</a:t>
            </a:r>
            <a:endParaRPr lang="en-US" sz="1150" dirty="0"/>
          </a:p>
        </p:txBody>
      </p:sp>
      <p:sp>
        <p:nvSpPr>
          <p:cNvPr id="23" name="pont-3"/>
          <p:cNvSpPr/>
          <p:nvPr/>
        </p:nvSpPr>
        <p:spPr>
          <a:xfrm>
            <a:off x="594360" y="5404104"/>
            <a:ext cx="182880" cy="182880"/>
          </a:xfrm>
          <a:prstGeom prst="ellipse">
            <a:avLst/>
          </a:prstGeom>
          <a:solidFill>
            <a:srgbClr val="0070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914400" y="534924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492A"/>
                </a:solidFill>
              </a:rPr>
              <a:t>Kétlépéses átlagolás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914400" y="5623560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492A"/>
                </a:solidFill>
              </a:rPr>
              <a:t>Először útvonalonként kilométerre vetítem, majd az útvonalak átlagát veszem — így a hosszú útvonalak nem dominálnak.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550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D9A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65176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Eredmények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68680" y="3794760"/>
            <a:ext cx="1042416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CFE0D4"/>
                </a:solidFill>
              </a:rPr>
              <a:t>Négy szempont: sebesség és menetidő · előzések · kormányzás és sávtartás · ütközések és visszahelyezések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492A"/>
                </a:solidFill>
              </a:rPr>
              <a:t>Sebesség és menetidő</a:t>
            </a:r>
            <a:endParaRPr lang="en-US" sz="3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280160"/>
          <a:ext cx="54864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737360"/>
                <a:gridCol w="1371600"/>
                <a:gridCol w="128016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9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Átlagsebesség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9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Menetidő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9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Célba ért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9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39,6 km/h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3121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49/50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35,5 km/h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3543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50/50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31,7 km/h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3941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50/50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39,4 km/h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3174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49/50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C89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89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40,1 km/h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89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3056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89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50/50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4" name="sebesseg-abra" descr="/tmp/claude-1000/-home-labor-CARLA-DAVID-TDK-RL-carla-ROS2/715fc7ab-c6b5-49bf-a3d7-cea8d961abde/scratchpad/img/eval_spe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280160"/>
            <a:ext cx="5212080" cy="23317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400800" y="365760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6B55"/>
                </a:solidFill>
              </a:rPr>
              <a:t>Balra: átlagsebesség útvonaltípusonként. Jobbra: menetidő.</a:t>
            </a:r>
            <a:endParaRPr lang="en-US" sz="1000" dirty="0"/>
          </a:p>
        </p:txBody>
      </p:sp>
      <p:sp>
        <p:nvSpPr>
          <p:cNvPr id="6" name="kov-sebesseg"/>
          <p:cNvSpPr/>
          <p:nvPr/>
        </p:nvSpPr>
        <p:spPr>
          <a:xfrm>
            <a:off x="566928" y="3977640"/>
            <a:ext cx="11064240" cy="1783080"/>
          </a:xfrm>
          <a:prstGeom prst="roundRect">
            <a:avLst>
              <a:gd name="adj" fmla="val 3077"/>
            </a:avLst>
          </a:prstGeom>
          <a:solidFill>
            <a:srgbClr val="EEF2EE"/>
          </a:solidFill>
          <a:ln w="9525">
            <a:solidFill>
              <a:srgbClr val="CFE0D4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777240" y="41148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03C"/>
                </a:solidFill>
              </a:rPr>
              <a:t>Mit mutat?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777240" y="4434840"/>
            <a:ext cx="10652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00492A"/>
                </a:solidFill>
              </a:rPr>
              <a:t>Az R2 és az R3 lelassult.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00492A"/>
                </a:solidFill>
              </a:rPr>
              <a:t>A TTC-büntetés kiterjesztése, majd megerősítése óvatosabbá tette az ágenst: az R3 már csak 31,7 km/h-val ment, és 800 s-mal több időre volt szüksége, mint az R1.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5029200"/>
            <a:ext cx="10652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00492A"/>
                </a:solidFill>
              </a:rPr>
              <a:t>A haladásalapú jutalom visszahozta a sebességet.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00492A"/>
                </a:solidFill>
              </a:rPr>
              <a:t>Az R4 és az R5 visszaért az R1 szintjére, sőt az R5 lett a leggyorsabb, és egyedül az R2, R3, R5 ért célba mind az 50 bejárásban.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550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D9A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492A"/>
                </a:solidFill>
              </a:rPr>
              <a:t>Előzések: mennyiség és szabályosság</a:t>
            </a:r>
            <a:endParaRPr lang="en-US" sz="3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261872"/>
          <a:ext cx="66294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188720"/>
                <a:gridCol w="1143000"/>
                <a:gridCol w="1280160"/>
                <a:gridCol w="1097280"/>
                <a:gridCol w="100584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9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Elhaladás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9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Szabályos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9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Szabálytalan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9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Szabályos arány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9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Sikeres kísérlet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9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C89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89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94,0 %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74,6 %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93,3 %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60,4 %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90,8 %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45,8 %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90,3 %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72,3 %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91,8 %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89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75,0 %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4" name="kimenetek" descr="/tmp/claude-1000/-home-labor-CARLA-DAVID-TDK-RL-carla-ROS2/715fc7ab-c6b5-49bf-a3d7-cea8d961abde/scratchpad/img/outcom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1261872"/>
            <a:ext cx="4133088" cy="292608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7498080" y="4224528"/>
            <a:ext cx="4133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6B55"/>
                </a:solidFill>
              </a:rPr>
              <a:t>Az előzési kísérletek kimenetelének megoszlása</a:t>
            </a:r>
            <a:endParaRPr lang="en-US" sz="1000" dirty="0"/>
          </a:p>
        </p:txBody>
      </p:sp>
      <p:sp>
        <p:nvSpPr>
          <p:cNvPr id="6" name="kov-elozes"/>
          <p:cNvSpPr/>
          <p:nvPr/>
        </p:nvSpPr>
        <p:spPr>
          <a:xfrm>
            <a:off x="566928" y="3977640"/>
            <a:ext cx="6629400" cy="1783080"/>
          </a:xfrm>
          <a:prstGeom prst="roundRect">
            <a:avLst>
              <a:gd name="adj" fmla="val 3077"/>
            </a:avLst>
          </a:prstGeom>
          <a:solidFill>
            <a:srgbClr val="EEF2EE"/>
          </a:solidFill>
          <a:ln w="9525">
            <a:solidFill>
              <a:srgbClr val="CFE0D4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777240" y="41148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03C"/>
                </a:solidFill>
              </a:rPr>
              <a:t>Mit mutat?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777240" y="4434840"/>
            <a:ext cx="6217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00492A"/>
                </a:solidFill>
              </a:rPr>
              <a:t>A hangolás visszafelé sült el. 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0492A"/>
                </a:solidFill>
              </a:rPr>
              <a:t>Az R3-tól bátrabb előzést vártam, mégis ez előzött a legkevesebbet: 556 elhaladás, és a kísérletek 27,8 %-át feladta.</a:t>
            </a:r>
            <a:endParaRPr lang="en-US" sz="125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502920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00492A"/>
                </a:solidFill>
              </a:rPr>
              <a:t>A haladásalapú jutalom működött. 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0492A"/>
                </a:solidFill>
              </a:rPr>
              <a:t>Az R4 kézi ösztönzés nélkül 1018 elhaladásig jutott, az R5 pedig a legjobb sikerarányt adta, mindössze 7,4 % feladott kísérlettel.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550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D9A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492A"/>
                </a:solidFill>
              </a:rPr>
              <a:t>Kormányzás és sávtartás</a:t>
            </a:r>
            <a:endParaRPr lang="en-US" sz="3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298448"/>
          <a:ext cx="539496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194560"/>
                <a:gridCol w="201168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9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Kormányváltozás / lépés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9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Sávközépen töltött idő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9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C89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89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0,028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89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86,4 %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0,037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73,7 %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0,030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59,8 %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0,028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72,5 %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0,029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70,3 %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4" name="kormany-abra" descr="/tmp/claude-1000/-home-labor-CARLA-DAVID-TDK-RL-carla-ROS2/715fc7ab-c6b5-49bf-a3d7-cea8d961abde/scratchpad/img/eval_ste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3640" y="1298448"/>
            <a:ext cx="5367528" cy="237744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263640" y="3721608"/>
            <a:ext cx="5367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6B55"/>
                </a:solidFill>
              </a:rPr>
              <a:t>Balra: kormányváltozás. Jobbra: sáv közepén töltött idő.</a:t>
            </a:r>
            <a:endParaRPr lang="en-US" sz="1000" dirty="0"/>
          </a:p>
        </p:txBody>
      </p:sp>
      <p:sp>
        <p:nvSpPr>
          <p:cNvPr id="6" name="kov-kormany"/>
          <p:cNvSpPr/>
          <p:nvPr/>
        </p:nvSpPr>
        <p:spPr>
          <a:xfrm>
            <a:off x="566928" y="4023360"/>
            <a:ext cx="11064240" cy="1737360"/>
          </a:xfrm>
          <a:prstGeom prst="roundRect">
            <a:avLst>
              <a:gd name="adj" fmla="val 3158"/>
            </a:avLst>
          </a:prstGeom>
          <a:solidFill>
            <a:srgbClr val="EEF2EE"/>
          </a:solidFill>
          <a:ln w="9525">
            <a:solidFill>
              <a:srgbClr val="CFE0D4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777240" y="41605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03C"/>
                </a:solidFill>
              </a:rPr>
              <a:t>Mit mutat?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777240" y="4480560"/>
            <a:ext cx="10652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00492A"/>
                </a:solidFill>
              </a:rPr>
              <a:t>A sávtartás romlott anélkül, hogy hozzányúltam volna.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00492A"/>
                </a:solidFill>
              </a:rPr>
              <a:t>Az R2-ben és R3-ban csak a TTC- és előzési tagokat változtattam, a sávtartás mégis 86,4 %-ról 73,7, majd 59,8 %-ra esett — a félbehagyott előzési kísérletek egy oda-vissza kormánymozdulatot adnak.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5074920"/>
            <a:ext cx="10652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00492A"/>
                </a:solidFill>
              </a:rPr>
              <a:t>Ez az R1 egyetlen tartós előnye: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00492A"/>
                </a:solidFill>
              </a:rPr>
              <a:t>a beágyazott sávközép- és simasági tényező miatt 86,4 %-kal a legjobban tartja a sávot.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550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D9A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492A"/>
                </a:solidFill>
              </a:rPr>
              <a:t>Ütközések és visszahelyezések</a:t>
            </a:r>
            <a:endParaRPr lang="en-US" sz="3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298448"/>
          <a:ext cx="548640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508760"/>
                <a:gridCol w="1463040"/>
                <a:gridCol w="13716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9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Elütött jármű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9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Elütési arány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9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Visszahelyezés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9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11,8 %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10,3 %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89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15,1 %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11,1 %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C89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891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10,2 %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4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4" name="biztonsag-abra" descr="/tmp/claude-1000/-home-labor-CARLA-DAVID-TDK-RL-carla-ROS2/715fc7ab-c6b5-49bf-a3d7-cea8d961abde/scratchpad/img/eval_safe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0" y="1298448"/>
            <a:ext cx="5276088" cy="237744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355080" y="3721608"/>
            <a:ext cx="5276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6B55"/>
                </a:solidFill>
              </a:rPr>
              <a:t>Balra: elütött járművek, jobbra: visszahelyezések száma.</a:t>
            </a:r>
            <a:endParaRPr lang="en-US" sz="1000" dirty="0"/>
          </a:p>
        </p:txBody>
      </p:sp>
      <p:sp>
        <p:nvSpPr>
          <p:cNvPr id="6" name="kov-biztonsag"/>
          <p:cNvSpPr/>
          <p:nvPr/>
        </p:nvSpPr>
        <p:spPr>
          <a:xfrm>
            <a:off x="566928" y="4023360"/>
            <a:ext cx="11064240" cy="1737360"/>
          </a:xfrm>
          <a:prstGeom prst="roundRect">
            <a:avLst>
              <a:gd name="adj" fmla="val 3158"/>
            </a:avLst>
          </a:prstGeom>
          <a:solidFill>
            <a:srgbClr val="EEF2EE"/>
          </a:solidFill>
          <a:ln w="9525">
            <a:solidFill>
              <a:srgbClr val="CFE0D4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777240" y="41605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03C"/>
                </a:solidFill>
              </a:rPr>
              <a:t>Mit mutat?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777240" y="4480560"/>
            <a:ext cx="10652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00492A"/>
                </a:solidFill>
              </a:rPr>
              <a:t>Az arány többet mond, mint a darabszám.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00492A"/>
                </a:solidFill>
              </a:rPr>
              <a:t>Az R4 több járművet ütött el, de sokkal többet is előzött, így az aránya alacsonyabb — nem veszélyesebben előzött, csak többet.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5074920"/>
            <a:ext cx="10652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00492A"/>
                </a:solidFill>
              </a:rPr>
              <a:t>Az R3 lett a legveszélyesebb: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00492A"/>
                </a:solidFill>
              </a:rPr>
              <a:t>15,1 %-os elütési arány, 53 visszahelyezés, és egyedül ez gyorsított rendszeresen 60 km/h fölé. Az R5 elütési aránya a legkisebb, és fele annyi visszahelyezés kellett, mint az R4-nél.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550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D9A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492A"/>
                </a:solidFill>
              </a:rPr>
              <a:t>A két legjobb modell: R1 és R5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972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6B55"/>
                </a:solidFill>
              </a:rPr>
              <a:t>Egyértelmű győztes nincs — a két modell más-más téren erős.</a:t>
            </a:r>
            <a:endParaRPr lang="en-US" sz="1400" dirty="0"/>
          </a:p>
        </p:txBody>
      </p:sp>
      <p:sp>
        <p:nvSpPr>
          <p:cNvPr id="4" name="r1-fej"/>
          <p:cNvSpPr/>
          <p:nvPr/>
        </p:nvSpPr>
        <p:spPr>
          <a:xfrm>
            <a:off x="566928" y="1536192"/>
            <a:ext cx="5440680" cy="566928"/>
          </a:xfrm>
          <a:prstGeom prst="roundRect">
            <a:avLst>
              <a:gd name="adj" fmla="val 12903"/>
            </a:avLst>
          </a:prstGeom>
          <a:solidFill>
            <a:srgbClr val="0049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1536192"/>
            <a:ext cx="5440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R1 — kézi tagok</a:t>
            </a:r>
            <a:endParaRPr lang="en-US" sz="1800" dirty="0"/>
          </a:p>
        </p:txBody>
      </p:sp>
      <p:sp>
        <p:nvSpPr>
          <p:cNvPr id="6" name="r1-sor-0"/>
          <p:cNvSpPr/>
          <p:nvPr/>
        </p:nvSpPr>
        <p:spPr>
          <a:xfrm>
            <a:off x="566928" y="2240280"/>
            <a:ext cx="5440680" cy="658368"/>
          </a:xfrm>
          <a:prstGeom prst="roundRect">
            <a:avLst>
              <a:gd name="adj" fmla="val 8333"/>
            </a:avLst>
          </a:prstGeom>
          <a:solidFill>
            <a:srgbClr val="EEF2EE"/>
          </a:solidFill>
          <a:ln w="9525">
            <a:solidFill>
              <a:srgbClr val="CFE0D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2295144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492A"/>
                </a:solidFill>
              </a:rPr>
              <a:t>94,0 %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2331720" y="2295144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492A"/>
                </a:solidFill>
              </a:rPr>
              <a:t>szabályos elhaladás — a legjobb</a:t>
            </a:r>
            <a:endParaRPr lang="en-US" sz="1250" dirty="0"/>
          </a:p>
        </p:txBody>
      </p:sp>
      <p:sp>
        <p:nvSpPr>
          <p:cNvPr id="9" name="r1-sor-1"/>
          <p:cNvSpPr/>
          <p:nvPr/>
        </p:nvSpPr>
        <p:spPr>
          <a:xfrm>
            <a:off x="566928" y="3008376"/>
            <a:ext cx="5440680" cy="658368"/>
          </a:xfrm>
          <a:prstGeom prst="roundRect">
            <a:avLst>
              <a:gd name="adj" fmla="val 8333"/>
            </a:avLst>
          </a:prstGeom>
          <a:solidFill>
            <a:srgbClr val="EEF2EE"/>
          </a:solidFill>
          <a:ln w="9525">
            <a:solidFill>
              <a:srgbClr val="CFE0D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13232" y="30632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492A"/>
                </a:solidFill>
              </a:rPr>
              <a:t>86,4 %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2331720" y="306324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492A"/>
                </a:solidFill>
              </a:rPr>
              <a:t>sávközépen töltött idő — a legjobb</a:t>
            </a:r>
            <a:endParaRPr lang="en-US" sz="1250" dirty="0"/>
          </a:p>
        </p:txBody>
      </p:sp>
      <p:sp>
        <p:nvSpPr>
          <p:cNvPr id="12" name="r1-sor-2"/>
          <p:cNvSpPr/>
          <p:nvPr/>
        </p:nvSpPr>
        <p:spPr>
          <a:xfrm>
            <a:off x="566928" y="3776472"/>
            <a:ext cx="5440680" cy="658368"/>
          </a:xfrm>
          <a:prstGeom prst="roundRect">
            <a:avLst>
              <a:gd name="adj" fmla="val 8333"/>
            </a:avLst>
          </a:prstGeom>
          <a:solidFill>
            <a:srgbClr val="EEF2EE"/>
          </a:solidFill>
          <a:ln w="9525">
            <a:solidFill>
              <a:srgbClr val="CFE0D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13232" y="3831336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492A"/>
                </a:solidFill>
              </a:rPr>
              <a:t>74,6 %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2331720" y="3831336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492A"/>
                </a:solidFill>
              </a:rPr>
              <a:t>sikeres előzési kísérlet</a:t>
            </a:r>
            <a:endParaRPr lang="en-US" sz="1250" dirty="0"/>
          </a:p>
        </p:txBody>
      </p:sp>
      <p:sp>
        <p:nvSpPr>
          <p:cNvPr id="15" name="r1-sor-3"/>
          <p:cNvSpPr/>
          <p:nvPr/>
        </p:nvSpPr>
        <p:spPr>
          <a:xfrm>
            <a:off x="566928" y="4544568"/>
            <a:ext cx="5440680" cy="658368"/>
          </a:xfrm>
          <a:prstGeom prst="roundRect">
            <a:avLst>
              <a:gd name="adj" fmla="val 8333"/>
            </a:avLst>
          </a:prstGeom>
          <a:solidFill>
            <a:srgbClr val="EEF2EE"/>
          </a:solidFill>
          <a:ln w="9525">
            <a:solidFill>
              <a:srgbClr val="CFE0D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3232" y="459943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492A"/>
                </a:solidFill>
              </a:rPr>
              <a:t>43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2331720" y="4599432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492A"/>
                </a:solidFill>
              </a:rPr>
              <a:t>visszahelyezés</a:t>
            </a:r>
            <a:endParaRPr lang="en-US" sz="1250" dirty="0"/>
          </a:p>
        </p:txBody>
      </p:sp>
      <p:sp>
        <p:nvSpPr>
          <p:cNvPr id="18" name="r5-fej"/>
          <p:cNvSpPr/>
          <p:nvPr/>
        </p:nvSpPr>
        <p:spPr>
          <a:xfrm>
            <a:off x="6190488" y="1536192"/>
            <a:ext cx="5440680" cy="566928"/>
          </a:xfrm>
          <a:prstGeom prst="roundRect">
            <a:avLst>
              <a:gd name="adj" fmla="val 12903"/>
            </a:avLst>
          </a:prstGeom>
          <a:solidFill>
            <a:srgbClr val="C891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190488" y="1536192"/>
            <a:ext cx="5440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R5 — haladás + PBRS</a:t>
            </a:r>
            <a:endParaRPr lang="en-US" sz="1800" dirty="0"/>
          </a:p>
        </p:txBody>
      </p:sp>
      <p:sp>
        <p:nvSpPr>
          <p:cNvPr id="20" name="r5-sor-0"/>
          <p:cNvSpPr/>
          <p:nvPr/>
        </p:nvSpPr>
        <p:spPr>
          <a:xfrm>
            <a:off x="6190488" y="2240280"/>
            <a:ext cx="5440680" cy="658368"/>
          </a:xfrm>
          <a:prstGeom prst="roundRect">
            <a:avLst>
              <a:gd name="adj" fmla="val 8333"/>
            </a:avLst>
          </a:prstGeom>
          <a:solidFill>
            <a:srgbClr val="EEF2EE"/>
          </a:solidFill>
          <a:ln w="9525">
            <a:solidFill>
              <a:srgbClr val="CFE0D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36792" y="2295144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912F"/>
                </a:solidFill>
              </a:rPr>
              <a:t>40,1 km/h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8183880" y="2295144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492A"/>
                </a:solidFill>
              </a:rPr>
              <a:t>a leggyorsabb, 3056 s menetidő</a:t>
            </a:r>
            <a:endParaRPr lang="en-US" sz="1250" dirty="0"/>
          </a:p>
        </p:txBody>
      </p:sp>
      <p:sp>
        <p:nvSpPr>
          <p:cNvPr id="23" name="r5-sor-1"/>
          <p:cNvSpPr/>
          <p:nvPr/>
        </p:nvSpPr>
        <p:spPr>
          <a:xfrm>
            <a:off x="6190488" y="3008376"/>
            <a:ext cx="5440680" cy="658368"/>
          </a:xfrm>
          <a:prstGeom prst="roundRect">
            <a:avLst>
              <a:gd name="adj" fmla="val 8333"/>
            </a:avLst>
          </a:prstGeom>
          <a:solidFill>
            <a:srgbClr val="EEF2EE"/>
          </a:solidFill>
          <a:ln w="9525">
            <a:solidFill>
              <a:srgbClr val="CFE0D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336792" y="306324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912F"/>
                </a:solidFill>
              </a:rPr>
              <a:t>50/50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8183880" y="30632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492A"/>
                </a:solidFill>
              </a:rPr>
              <a:t>bejárás ért célba</a:t>
            </a:r>
            <a:endParaRPr lang="en-US" sz="1250" dirty="0"/>
          </a:p>
        </p:txBody>
      </p:sp>
      <p:sp>
        <p:nvSpPr>
          <p:cNvPr id="26" name="r5-sor-2"/>
          <p:cNvSpPr/>
          <p:nvPr/>
        </p:nvSpPr>
        <p:spPr>
          <a:xfrm>
            <a:off x="6190488" y="3776472"/>
            <a:ext cx="5440680" cy="658368"/>
          </a:xfrm>
          <a:prstGeom prst="roundRect">
            <a:avLst>
              <a:gd name="adj" fmla="val 8333"/>
            </a:avLst>
          </a:prstGeom>
          <a:solidFill>
            <a:srgbClr val="EEF2EE"/>
          </a:solidFill>
          <a:ln w="9525">
            <a:solidFill>
              <a:srgbClr val="CFE0D4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336792" y="3831336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912F"/>
                </a:solidFill>
              </a:rPr>
              <a:t>75,0 %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8183880" y="3831336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492A"/>
                </a:solidFill>
              </a:rPr>
              <a:t>sikeres előzési kísérlet — a legjobb</a:t>
            </a:r>
            <a:endParaRPr lang="en-US" sz="1250" dirty="0"/>
          </a:p>
        </p:txBody>
      </p:sp>
      <p:sp>
        <p:nvSpPr>
          <p:cNvPr id="29" name="r5-sor-3"/>
          <p:cNvSpPr/>
          <p:nvPr/>
        </p:nvSpPr>
        <p:spPr>
          <a:xfrm>
            <a:off x="6190488" y="4544568"/>
            <a:ext cx="5440680" cy="658368"/>
          </a:xfrm>
          <a:prstGeom prst="roundRect">
            <a:avLst>
              <a:gd name="adj" fmla="val 8333"/>
            </a:avLst>
          </a:prstGeom>
          <a:solidFill>
            <a:srgbClr val="EEF2EE"/>
          </a:solidFill>
          <a:ln w="9525">
            <a:solidFill>
              <a:srgbClr val="CFE0D4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336792" y="4599432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912F"/>
                </a:solidFill>
              </a:rPr>
              <a:t>10,2 %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8183880" y="459943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492A"/>
                </a:solidFill>
              </a:rPr>
              <a:t>elütési arány — a legkisebb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566928" y="54132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00492A"/>
                </a:solidFill>
              </a:rPr>
              <a:t>Az előzési kísérletek sikerében a kettő gyakorlatilag egyenlő (74,6 % és 75,0 %) — a döntés azon áll, mi a fontosabb: a szabálykövetés vagy a haladás.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550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D9A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492A"/>
                </a:solidFill>
              </a:rPr>
              <a:t>Tanulságok és továbbfejlesztés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143000"/>
            <a:ext cx="5440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492A"/>
                </a:solidFill>
              </a:rPr>
              <a:t>Amit a mérések megmutattak</a:t>
            </a:r>
            <a:endParaRPr lang="en-US" sz="1600" dirty="0"/>
          </a:p>
        </p:txBody>
      </p:sp>
      <p:sp>
        <p:nvSpPr>
          <p:cNvPr id="4" name="tan-0"/>
          <p:cNvSpPr/>
          <p:nvPr/>
        </p:nvSpPr>
        <p:spPr>
          <a:xfrm>
            <a:off x="621792" y="1645920"/>
            <a:ext cx="182880" cy="182880"/>
          </a:xfrm>
          <a:prstGeom prst="ellipse">
            <a:avLst/>
          </a:prstGeom>
          <a:solidFill>
            <a:srgbClr val="0070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2688" y="1572768"/>
            <a:ext cx="5074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00492A"/>
                </a:solidFill>
              </a:rPr>
              <a:t>A kézi tagok kiolthatják egymást — az ágens a szabály megkerülését tanulja meg, nem a kívánt viselkedést.</a:t>
            </a:r>
            <a:endParaRPr lang="en-US" sz="1300" dirty="0"/>
          </a:p>
        </p:txBody>
      </p:sp>
      <p:sp>
        <p:nvSpPr>
          <p:cNvPr id="6" name="tan-1"/>
          <p:cNvSpPr/>
          <p:nvPr/>
        </p:nvSpPr>
        <p:spPr>
          <a:xfrm>
            <a:off x="621792" y="2670048"/>
            <a:ext cx="182880" cy="182880"/>
          </a:xfrm>
          <a:prstGeom prst="ellipse">
            <a:avLst/>
          </a:prstGeom>
          <a:solidFill>
            <a:srgbClr val="0070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32688" y="2596896"/>
            <a:ext cx="5074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00492A"/>
                </a:solidFill>
              </a:rPr>
              <a:t>Az előzés közbeni TTC-büntetés nem működött: az ágens inkább lemaradt, mint hogy előzzön.</a:t>
            </a:r>
            <a:endParaRPr lang="en-US" sz="1300" dirty="0"/>
          </a:p>
        </p:txBody>
      </p:sp>
      <p:sp>
        <p:nvSpPr>
          <p:cNvPr id="8" name="tan-2"/>
          <p:cNvSpPr/>
          <p:nvPr/>
        </p:nvSpPr>
        <p:spPr>
          <a:xfrm>
            <a:off x="621792" y="3694176"/>
            <a:ext cx="182880" cy="182880"/>
          </a:xfrm>
          <a:prstGeom prst="ellipse">
            <a:avLst/>
          </a:prstGeom>
          <a:solidFill>
            <a:srgbClr val="0070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32688" y="3621024"/>
            <a:ext cx="5074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00492A"/>
                </a:solidFill>
              </a:rPr>
              <a:t>Jobb egyetlen fizikai mennyiséget jutalmazni — a lassabb autó mögött a haladás magától kevesebbet ér.</a:t>
            </a:r>
            <a:endParaRPr lang="en-US" sz="1300" dirty="0"/>
          </a:p>
        </p:txBody>
      </p:sp>
      <p:sp>
        <p:nvSpPr>
          <p:cNvPr id="10" name="tan-3"/>
          <p:cNvSpPr/>
          <p:nvPr/>
        </p:nvSpPr>
        <p:spPr>
          <a:xfrm>
            <a:off x="621792" y="4718304"/>
            <a:ext cx="182880" cy="182880"/>
          </a:xfrm>
          <a:prstGeom prst="ellipse">
            <a:avLst/>
          </a:prstGeom>
          <a:solidFill>
            <a:srgbClr val="0070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32688" y="4645152"/>
            <a:ext cx="5074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00492A"/>
                </a:solidFill>
              </a:rPr>
              <a:t>Az előzést az első lépéstől érdemes jutalmazni; a potenciálalapú formálás ezt a stratégia megváltoztatása nélkül teszi meg.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355080" y="1143000"/>
            <a:ext cx="5276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912F"/>
                </a:solidFill>
              </a:rPr>
              <a:t>Hogyan tovább</a:t>
            </a:r>
            <a:endParaRPr lang="en-US" sz="1600" dirty="0"/>
          </a:p>
        </p:txBody>
      </p:sp>
      <p:sp>
        <p:nvSpPr>
          <p:cNvPr id="13" name="tov-0"/>
          <p:cNvSpPr/>
          <p:nvPr/>
        </p:nvSpPr>
        <p:spPr>
          <a:xfrm>
            <a:off x="6355080" y="1536192"/>
            <a:ext cx="5276088" cy="941832"/>
          </a:xfrm>
          <a:prstGeom prst="roundRect">
            <a:avLst>
              <a:gd name="adj" fmla="val 5825"/>
            </a:avLst>
          </a:prstGeom>
          <a:solidFill>
            <a:srgbClr val="EEF2EE"/>
          </a:solidFill>
          <a:ln w="9525">
            <a:solidFill>
              <a:srgbClr val="CFE0D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37960" y="162763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492A"/>
                </a:solidFill>
              </a:rPr>
              <a:t>Az R5 irányában folytatom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537960" y="1901952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00492A"/>
                </a:solidFill>
              </a:rPr>
              <a:t>A haladásalapú jutalom és a potenciálalapú formálás kombinációja bizonyult a legígéretesebbnek.</a:t>
            </a:r>
            <a:endParaRPr lang="en-US" sz="1100" dirty="0"/>
          </a:p>
        </p:txBody>
      </p:sp>
      <p:sp>
        <p:nvSpPr>
          <p:cNvPr id="16" name="tov-1"/>
          <p:cNvSpPr/>
          <p:nvPr/>
        </p:nvSpPr>
        <p:spPr>
          <a:xfrm>
            <a:off x="6355080" y="2560320"/>
            <a:ext cx="5276088" cy="941832"/>
          </a:xfrm>
          <a:prstGeom prst="roundRect">
            <a:avLst>
              <a:gd name="adj" fmla="val 5825"/>
            </a:avLst>
          </a:prstGeom>
          <a:solidFill>
            <a:srgbClr val="EEF2EE"/>
          </a:solidFill>
          <a:ln w="9525">
            <a:solidFill>
              <a:srgbClr val="CFE0D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37960" y="26517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492A"/>
                </a:solidFill>
              </a:rPr>
              <a:t>Sávtartás visszaépítése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6537960" y="292608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00492A"/>
                </a:solidFill>
              </a:rPr>
              <a:t>Az R1 erős sávtartását szeretném az R5-be hozni, hogy ne rángassa szükségtelenül a kormányt.</a:t>
            </a:r>
            <a:endParaRPr lang="en-US" sz="1100" dirty="0"/>
          </a:p>
        </p:txBody>
      </p:sp>
      <p:sp>
        <p:nvSpPr>
          <p:cNvPr id="19" name="tov-2"/>
          <p:cNvSpPr/>
          <p:nvPr/>
        </p:nvSpPr>
        <p:spPr>
          <a:xfrm>
            <a:off x="6355080" y="3584448"/>
            <a:ext cx="5276088" cy="941832"/>
          </a:xfrm>
          <a:prstGeom prst="roundRect">
            <a:avLst>
              <a:gd name="adj" fmla="val 5825"/>
            </a:avLst>
          </a:prstGeom>
          <a:solidFill>
            <a:srgbClr val="EEF2EE"/>
          </a:solidFill>
          <a:ln w="9525">
            <a:solidFill>
              <a:srgbClr val="CFE0D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37960" y="367588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492A"/>
                </a:solidFill>
              </a:rPr>
              <a:t>Az ütközések feltárása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6537960" y="395020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00492A"/>
                </a:solidFill>
              </a:rPr>
              <a:t>Mélyebben megvizsgálnám, pontosan mely tényezők vezettek a forgalmi szereplőkkel való ütközéshez.</a:t>
            </a:r>
            <a:endParaRPr lang="en-US" sz="1100" dirty="0"/>
          </a:p>
        </p:txBody>
      </p:sp>
      <p:sp>
        <p:nvSpPr>
          <p:cNvPr id="22" name="tov-3"/>
          <p:cNvSpPr/>
          <p:nvPr/>
        </p:nvSpPr>
        <p:spPr>
          <a:xfrm>
            <a:off x="6355080" y="4608576"/>
            <a:ext cx="5276088" cy="941832"/>
          </a:xfrm>
          <a:prstGeom prst="roundRect">
            <a:avLst>
              <a:gd name="adj" fmla="val 5825"/>
            </a:avLst>
          </a:prstGeom>
          <a:solidFill>
            <a:srgbClr val="EEF2EE"/>
          </a:solidFill>
          <a:ln w="9525">
            <a:solidFill>
              <a:srgbClr val="CFE0D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537960" y="470001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492A"/>
                </a:solidFill>
              </a:rPr>
              <a:t>Sávfelfestés a látensben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6537960" y="4974336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00492A"/>
                </a:solidFill>
              </a:rPr>
              <a:t>A szabálytalan előzések egy része abból ered, hogy a látens nem őrzi meg pontosan a felfestés típusát.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550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D9A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68680" y="86868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FFFFF"/>
                </a:solidFill>
              </a:rPr>
              <a:t>DEBRECENI EGYETEM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68680" y="126187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CFE0D4"/>
                </a:solidFill>
              </a:rPr>
              <a:t>Informatikai Kar · TDK 2026</a:t>
            </a:r>
            <a:endParaRPr lang="en-US" sz="13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822960" y="1783080"/>
            <a:ext cx="9875520" cy="1691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Köszönöm a figyelmet!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385876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Angi Dávid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42062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FE0D4"/>
                </a:solidFill>
              </a:rPr>
              <a:t>Témavezető: Mészáros László</a:t>
            </a:r>
            <a:endParaRPr lang="en-US" sz="1600" dirty="0"/>
          </a:p>
        </p:txBody>
      </p:sp>
      <p:sp>
        <p:nvSpPr>
          <p:cNvPr id="7" name="zaro-jel"/>
          <p:cNvSpPr/>
          <p:nvPr/>
        </p:nvSpPr>
        <p:spPr>
          <a:xfrm>
            <a:off x="868680" y="3657600"/>
            <a:ext cx="1005840" cy="41148"/>
          </a:xfrm>
          <a:prstGeom prst="rect">
            <a:avLst/>
          </a:prstGeom>
          <a:solidFill>
            <a:srgbClr val="C891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kpi-0"/>
          <p:cNvSpPr/>
          <p:nvPr/>
        </p:nvSpPr>
        <p:spPr>
          <a:xfrm>
            <a:off x="868680" y="4983480"/>
            <a:ext cx="2560320" cy="1143000"/>
          </a:xfrm>
          <a:prstGeom prst="roundRect">
            <a:avLst>
              <a:gd name="adj" fmla="val 6400"/>
            </a:avLst>
          </a:prstGeom>
          <a:solidFill>
            <a:srgbClr val="0049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" y="51206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250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55778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E0D4"/>
                </a:solidFill>
              </a:rPr>
              <a:t>kiértékelő bejárás</a:t>
            </a:r>
            <a:endParaRPr lang="en-US" sz="1100" dirty="0"/>
          </a:p>
        </p:txBody>
      </p:sp>
      <p:sp>
        <p:nvSpPr>
          <p:cNvPr id="11" name="kpi-1"/>
          <p:cNvSpPr/>
          <p:nvPr/>
        </p:nvSpPr>
        <p:spPr>
          <a:xfrm>
            <a:off x="3566160" y="4983480"/>
            <a:ext cx="2560320" cy="1143000"/>
          </a:xfrm>
          <a:prstGeom prst="roundRect">
            <a:avLst>
              <a:gd name="adj" fmla="val 6400"/>
            </a:avLst>
          </a:prstGeom>
          <a:solidFill>
            <a:srgbClr val="0049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66160" y="51206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5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0" y="55778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E0D4"/>
                </a:solidFill>
              </a:rPr>
              <a:t>jutalomfüggvény</a:t>
            </a:r>
            <a:endParaRPr lang="en-US" sz="1100" dirty="0"/>
          </a:p>
        </p:txBody>
      </p:sp>
      <p:sp>
        <p:nvSpPr>
          <p:cNvPr id="14" name="kpi-2"/>
          <p:cNvSpPr/>
          <p:nvPr/>
        </p:nvSpPr>
        <p:spPr>
          <a:xfrm>
            <a:off x="6263640" y="4983480"/>
            <a:ext cx="2560320" cy="1143000"/>
          </a:xfrm>
          <a:prstGeom prst="roundRect">
            <a:avLst>
              <a:gd name="adj" fmla="val 6400"/>
            </a:avLst>
          </a:prstGeom>
          <a:solidFill>
            <a:srgbClr val="0049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63640" y="51206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40,1 km/h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6355080" y="55778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E0D4"/>
                </a:solidFill>
              </a:rPr>
              <a:t>a legjobb átlagsebesség</a:t>
            </a:r>
            <a:endParaRPr lang="en-US" sz="1100" dirty="0"/>
          </a:p>
        </p:txBody>
      </p:sp>
      <p:sp>
        <p:nvSpPr>
          <p:cNvPr id="17" name="kpi-3"/>
          <p:cNvSpPr/>
          <p:nvPr/>
        </p:nvSpPr>
        <p:spPr>
          <a:xfrm>
            <a:off x="8961120" y="4983480"/>
            <a:ext cx="2560320" cy="1143000"/>
          </a:xfrm>
          <a:prstGeom prst="roundRect">
            <a:avLst>
              <a:gd name="adj" fmla="val 6400"/>
            </a:avLst>
          </a:prstGeom>
          <a:solidFill>
            <a:srgbClr val="0049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961120" y="51206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75,0 %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9052560" y="55778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E0D4"/>
                </a:solidFill>
              </a:rPr>
              <a:t>a legjobb előzési sikerarány</a:t>
            </a:r>
            <a:endParaRPr lang="en-US" sz="1100" dirty="0"/>
          </a:p>
        </p:txBody>
      </p:sp>
      <p:sp>
        <p:nvSpPr>
          <p:cNvPr id="21" name="Text 0"/>
          <p:cNvSpPr/>
          <p:nvPr>
            <p:ph idx="101" type="body" hasCustomPrompt="1"/>
          </p:nvPr>
        </p:nvSpPr>
        <p:spPr>
          <a:xfrm>
            <a:off x="868680" y="3840480"/>
            <a:ext cx="104241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DK CARLA - DE">
  <a:themeElements>
    <a:clrScheme name="TDK CARLA - DE">
      <a:dk1>
        <a:srgbClr val="00492A"/>
      </a:dk1>
      <a:lt1>
        <a:srgbClr val="FFFFFF"/>
      </a:lt1>
      <a:dk2>
        <a:srgbClr val="3F6B55"/>
      </a:dk2>
      <a:lt2>
        <a:srgbClr val="EEF2EE"/>
      </a:lt2>
      <a:accent1>
        <a:srgbClr val="00492A"/>
      </a:accent1>
      <a:accent2>
        <a:srgbClr val="00703C"/>
      </a:accent2>
      <a:accent3>
        <a:srgbClr val="00492A"/>
      </a:accent3>
      <a:accent4>
        <a:srgbClr val="7D9A8A"/>
      </a:accent4>
      <a:accent5>
        <a:srgbClr val="CFE0D4"/>
      </a:accent5>
      <a:accent6>
        <a:srgbClr val="C8912F"/>
      </a:accent6>
      <a:hlink>
        <a:srgbClr val="00492A"/>
      </a:hlink>
      <a:folHlink>
        <a:srgbClr val="7D9A8A"/>
      </a:folHlink>
    </a:clrScheme>
    <a:fontScheme name="TDK CARLA - D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Dinamikus objektumelkerülés megerősítéses tanulással</dc:title>
  <dc:subject>PptxGenJS Presentation</dc:subject>
  <dc:creator>Angi Dávid</dc:creator>
  <cp:lastModifiedBy>Angi Dávid</cp:lastModifiedBy>
  <cp:revision>1</cp:revision>
  <dcterms:created xsi:type="dcterms:W3CDTF">2026-10-28T13:38:26Z</dcterms:created>
  <dcterms:modified xsi:type="dcterms:W3CDTF">2026-10-28T13:38:26Z</dcterms:modified>
</cp:coreProperties>
</file>