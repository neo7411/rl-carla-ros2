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567014e3-aa94-d0d9-e0f7-e2c152a20309}">
          <p14:sldIdLst>
            <p14:sldId id="256"/>
            <p14:sldId id="257"/>
            <p14:sldId id="258"/>
          </p14:sldIdLst>
        </p14:section>
        <p14:section name="Módszer" id="{109d9b6a-e59a-e42e-5fb2-1973b281c98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redmények" id="{18c9694f-b77c-85c6-f12f-04ee7bec19d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Összegzés" id="{6d847852-ec29-3306-395f-d2e234e37608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Actor-Critic ágens CARLA Town04-ben, kamera + LiDAR autoenkóder látensekből vezet. A fő kérdés: milyen jutalomfüggvénnyel tanítható meg a sávtartás és a szabályos előzés. Öt jutalomfüggvényt hasonlítottam össze 250 bejáráson.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önvezetés fő haszna a biztonság. Szimulátorban tanítok, mert ott az ütközés nem jár következménnyel. A statikus sávtartás ma már megoldott, a valódi kérdés a mozgó forgalom kezelése — ez a dolgozatom témája.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Town04 azért jó választás, mert egy térképen van autópálya és városi szakasz is. A szimuláció 20 Hz-es, szinkron. Az ágens Soft Actor-Critic, 1 millió lépésen tanult, ez kb. 12 óra. Az akció a kormány és a gáz.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kamera- és három LiDAR-autoenkódert hasonlítottam össze. Kamerára a konvolúciós nyert, az MSE-je harmada a VGG-alapúnak. LiDAR-ra a gráf-alapút választottam: bár a RankMe-je kisebb, a látense a legsimább, két szomszédos képkocka között alig változik — ez az RL-nek fontosabb, mert a stabil bemenet könnyebben tanulható.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Mindkét autoenkódert előre, külön tanítottam be, a vezetéstől függetlenül. A kamera-enkóder négy konvolúciós blokkból áll és 128 elemű látensbe vetít; a LiDAR gráf-alapú enkódere a TopoLiDM mintájára készült, gráfrétegekkel, amelyek a hasonló jellemzőket akkor is együtt kezelik, ha a képen távol esnek. A dekóderre csak a tanításhoz van szükség. A fúzió a dia alsó felén látszik: a két szenzorág látensét egy közös 256-os térbe hozom és összeadom — nem konkatenálom, mert az összeadás kevesebb paramétert igényel. Az állapotvektor külön, 64-es ágon jön, és csak a végén fűzöm hozzá, onnan megy a SAC aktorába és kritikusába. A LiDAR-ág konvolúciós rétegei az ágenssel együtt tanulnak, tehát arra hangolódnak, ami a vezetéshez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R1 a kiindulási modellem: minden forgalmi helyzetre külön jutalomtagot írtam. Ez lett a legszabályosabb — az elhaladások 94 százaléka szabályos volt —, és a sávtartása is a legjobb, az idő 86,4 százalékában a sáv közepén haladt. 1009 jármű mellett haladt el, és az előzési kísérletek 74,6 százaléka sikerült.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egyetlen dologban tér el: a TTC-büntetést az előzhető helyzetre is kiterjesztettem. Azt vártam, hogy ettől hamarabb kezd előzni. Ehelyett az ellenkezője történt: óvatosabb lett, 827-re esett az elhaladás, a sikeres kísérletek aránya pedig 74,6-ról 60,4 százalékra. Cserébe a legkevesebb visszahelyezés — mindössze 12 — ehhez a modellhez tartozik.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R3-ban négy ponton hangoltam, hogy végre megérje előzni: szűkítettem a TTC-büntetés küszöbét, de megdupláztam a súlyát, megemeltem az előzési jutalmat, és kettébontottam a bónuszt. A várakozásommal szemben ez lett a legóvatosabb és egyben a legveszélyesebb modell: 556 elhaladás, 45,8 százalékos sikerarány, és 15,1 százalékos elütési arány. Itt láttam be, hogy a kézi tagok kioltják egymást.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R4-nél teljesen átszabtam a logikát. Nem írok külön tagot minden helyzetre, hanem egyetlen fizikai mennyiséget jutalmazok: az útvonal mentén megtett elmozdulást. A feltételezésem az volt, hogy a lassabb autó mögött a haladás magától kevesebbet ér, így az előzés kézi ösztönzés nélkül is megéri. Ez bejött: 556-ról 1018-ra nőtt az elhaladás, és a sebesség is visszatért az R1 szintjére.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R5 az R4-re épül, egyetlen taggal. A gond az volt, hogy a +5 bónusz csak a manőver végén jár, a kihúzódás pillanatában a diszkont miatt már csak 0,66-ot ér, így az ágens alig érzi. A potenciálalapú formálással a jutalom hamarabb érkezik, és Ng és társai 1999-es cikke szerint ez bizonyítottan nem változtatja meg az optimális stratégiát. Ez lett a leggyorsabb, 40,1 km/h-val, a legjobb sikerarányú, 75 százalékkal, és a legkisebb elütési arányú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futás nem jellemzi a modellt, mert a forgalom kezdőhelyzete véletlen. Ezért tíz útvonalon ötször mértem, ez 250 bejárás. A seedeket fixáltam, így a modellek ugyanazokon a helyzeteken mérődnek össze. A jutalmat nem hasonlítom, mert mindegyik más függvénnyel tanult — helyette a fizikai viselkedést mérem.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szempont szerint értékelem a modelleket.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és R3 lelassult a TTC-büntetés miatt, az R3 a leglassabb, 31,7 km/h. A haladásalapú R4 és R5 visszahozta az R1 sebességét, az R5 lett a leggyorsabb. A menetidőben ez 800 másodperc különbség R3 és R5 között.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legfontosabb táblázat. Az R3 paradoxona: bátrabb előzésre hangoltam, mégis a legkevesebbet előzött, 556 elhaladás, és a kísérletek 27,8 százalékát feladta. Az R4 haladásalapú jutalma kézi ösztönzés nélkül visszahozta az előzést. Az R5 adta a legjobb sikerarányt. A szabályos arányban viszont az R1 maradt a legjobb, 94 százalék.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Érdekes megfigyelés: az R2-ben és R3-ban nem nyúltam a sávtartási tagokhoz, mégis romlott a sávtartás. Ennek oka, hogy a félbehagyott előzési kísérletek extra kormánymozdulatot adnak. Az R1 itt a legjobb, 86,4 százalék — ez a beágyazott sávközép- és simasági tényezőnek köszönhető.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modellek hasonló utat tettek meg, 169-171 km, így a számok összevethetők. A legfontosabb tanulság: az arányt kell nézni, nem a darabszámot. Az R4 többet ütött, de többet is előzött. Az R3 a legveszélyesebb, ez volt az egyetlen, ami rendszeresen 60 fölé gyorsított. Az R5 aránya a legjobb.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lehet egyértelmű győztest kimondani. Az R5 gyorsabb, mindig célba ért, és a legkisebb az elütési aránya. Az R1 szabályosabban előz és sokkal jobban tartja a sávot. A sikerarányuk gyakorlatilag azonos.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fő tanulság: nem érdemes minden helyzetre külön kézi tagot írni, mert kiolthatják egymást. Jobban működik, ha a jutalom a haladást díjazza. Az előzést az első lépéstől jutalmazni kell, és erre a potenciálalapú formálás elméletileg is biztonságos eszköz. Tovább az R5 irányában haladnék, visszaépítve az R1 sávtartását.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Köszönöm a figyelmet, állok a kérdések elébe.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492A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A8A"/>
                </a:solidFill>
              </a:rPr>
              <a:t>Debreceni Egyetem, Informatikai Kar · TDK 2026 · Angi Dávid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Dinamikus objektumelkerülés megerősítéses tanulással a CARLA szimulátorban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D9A8A"/>
                </a:solidFill>
              </a:rPr>
              <a:t>Készítette: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D9A8A"/>
                </a:solidFill>
              </a:rPr>
              <a:t>Témavezető: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Mészáros László</a:t>
            </a:r>
            <a:endParaRPr lang="en-US" sz="1700" dirty="0"/>
          </a:p>
        </p:txBody>
      </p:sp>
      <p:sp>
        <p:nvSpPr>
          <p:cNvPr id="7" name="cim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Miért hasznos az önvezető autózás?</a:t>
            </a:r>
            <a:endParaRPr lang="en-US" sz="3200" dirty="0"/>
          </a:p>
        </p:txBody>
      </p:sp>
      <p:pic>
        <p:nvPicPr>
          <p:cNvPr id="3" name="carla-kep" descr="/tmp/claude-1000/-home-labor-CARLA-DAVID-TDK-RL-carla-ROS2/715fc7ab-c6b5-49bf-a3d7-cea8d961abde/scratchpad/img/carla_si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5074920" cy="2852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37960" y="4279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 CARLA szimulátor</a:t>
            </a:r>
            <a:endParaRPr lang="en-US" sz="1000" dirty="0"/>
          </a:p>
        </p:txBody>
      </p:sp>
      <p:sp>
        <p:nvSpPr>
          <p:cNvPr id="5" name="kor-0"/>
          <p:cNvSpPr/>
          <p:nvPr/>
        </p:nvSpPr>
        <p:spPr>
          <a:xfrm>
            <a:off x="566928" y="1408176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Biztonság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7190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A balesetek nagy része emberi hibából ered — a gép nem lesz figyelmetlen vagy fáradt.</a:t>
            </a:r>
            <a:endParaRPr lang="en-US" sz="1400" dirty="0"/>
          </a:p>
        </p:txBody>
      </p:sp>
      <p:sp>
        <p:nvSpPr>
          <p:cNvPr id="9" name="kor-1"/>
          <p:cNvSpPr/>
          <p:nvPr/>
        </p:nvSpPr>
        <p:spPr>
          <a:xfrm>
            <a:off x="566928" y="2615184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Tanulás szimulációban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Valós úton veszélyes és drága tanítani; a szimulátorban az ütközés következmény nélküli.</a:t>
            </a:r>
            <a:endParaRPr lang="en-US" sz="1400" dirty="0"/>
          </a:p>
        </p:txBody>
      </p:sp>
      <p:sp>
        <p:nvSpPr>
          <p:cNvPr id="13" name="kor-2"/>
          <p:cNvSpPr/>
          <p:nvPr/>
        </p:nvSpPr>
        <p:spPr>
          <a:xfrm>
            <a:off x="566928" y="3822192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856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Dinamikus környezet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1330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A statikus sávtartás megoldott probléma — a nehézséget a mozgó forgalom kezelése adja.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0749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492A"/>
                </a:solidFill>
              </a:rPr>
              <a:t>Célom: olyan ágens, amely kamera és LiDAR alapján tartja a sávot, és a nála lassabb járműveket szabályosan, balról kerüli 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Tanító környezet — CARLA, Town04</a:t>
            </a:r>
            <a:endParaRPr lang="en-US" sz="3200" dirty="0"/>
          </a:p>
        </p:txBody>
      </p:sp>
      <p:pic>
        <p:nvPicPr>
          <p:cNvPr id="3" name="town04" descr="/tmp/claude-1000/-home-labor-CARLA-DAVID-TDK-RL-carla-ROS2/715fc7ab-c6b5-49bf-a3d7-cea8d961abde/scratchpad/img/town0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4937760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 Town04 pálya felülnézeti térképe</a:t>
            </a:r>
            <a:endParaRPr lang="en-US" sz="1000" dirty="0"/>
          </a:p>
        </p:txBody>
      </p:sp>
      <p:sp>
        <p:nvSpPr>
          <p:cNvPr id="5" name="kartya-0"/>
          <p:cNvSpPr/>
          <p:nvPr/>
        </p:nvSpPr>
        <p:spPr>
          <a:xfrm>
            <a:off x="5897880" y="1325880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08192" y="1380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Town04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3807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autópálya-gyűrű és városi szakaszok egy térképen</a:t>
            </a:r>
            <a:endParaRPr lang="en-US" sz="1200" dirty="0"/>
          </a:p>
        </p:txBody>
      </p:sp>
      <p:sp>
        <p:nvSpPr>
          <p:cNvPr id="8" name="kartya-1"/>
          <p:cNvSpPr/>
          <p:nvPr/>
        </p:nvSpPr>
        <p:spPr>
          <a:xfrm>
            <a:off x="5897880" y="2112264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08192" y="2167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20 Hz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167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szinkron szimuláció, determinisztikus lépések</a:t>
            </a:r>
            <a:endParaRPr lang="en-US" sz="1200" dirty="0"/>
          </a:p>
        </p:txBody>
      </p:sp>
      <p:sp>
        <p:nvSpPr>
          <p:cNvPr id="11" name="kartya-2"/>
          <p:cNvSpPr/>
          <p:nvPr/>
        </p:nvSpPr>
        <p:spPr>
          <a:xfrm>
            <a:off x="5897880" y="2898648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08192" y="2953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Soft Actor-Critic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953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Stable-Baselines3, 1 millió tanítólépés (~12 óra)</a:t>
            </a:r>
            <a:endParaRPr lang="en-US" sz="1200" dirty="0"/>
          </a:p>
        </p:txBody>
      </p:sp>
      <p:sp>
        <p:nvSpPr>
          <p:cNvPr id="14" name="kartya-3"/>
          <p:cNvSpPr/>
          <p:nvPr/>
        </p:nvSpPr>
        <p:spPr>
          <a:xfrm>
            <a:off x="5897880" y="3685032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08192" y="37398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Akció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398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kormány és gáz, folytonos értékkel</a:t>
            </a:r>
            <a:endParaRPr lang="en-US" sz="1200" dirty="0"/>
          </a:p>
        </p:txBody>
      </p:sp>
      <p:sp>
        <p:nvSpPr>
          <p:cNvPr id="17" name="kartya-4"/>
          <p:cNvSpPr/>
          <p:nvPr/>
        </p:nvSpPr>
        <p:spPr>
          <a:xfrm>
            <a:off x="5897880" y="4471416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08192" y="4526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Epizódzárás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ütközés −30, letérés / megállás / túlgyorsulás −10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Autoenkóderek: a szenzoradat tömörítése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A nyers kép és pontfelhő túl nagy az RL-nek. Előre betanított enkóderekkel tömörítem, a tanítás alatt ezek súlyai fixek.</a:t>
            </a:r>
            <a:endParaRPr lang="en-US" sz="1400" dirty="0"/>
          </a:p>
        </p:txBody>
      </p:sp>
      <p:pic>
        <p:nvPicPr>
          <p:cNvPr id="4" name="kamera-peldak" descr="/tmp/claude-1000/-home-labor-CARLA-DAVID-TDK-RL-carla-ROS2/715fc7ab-c6b5-49bf-a3d7-cea8d961abde/scratchpad/img/camera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534924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2852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Kamera: 160×80 kép → 128 elemű látens</a:t>
            </a:r>
            <a:endParaRPr lang="en-US" sz="1100" dirty="0"/>
          </a:p>
        </p:txBody>
      </p:sp>
      <p:pic>
        <p:nvPicPr>
          <p:cNvPr id="6" name="lidar-bemenetek" descr="/tmp/claude-1000/-home-labor-CARLA-DAVID-TDK-RL-carla-ROS2/715fc7ab-c6b5-49bf-a3d7-cea8d961abde/scratchpad/img/lidar_inp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27632"/>
            <a:ext cx="5321808" cy="1188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28529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LiDAR: pontfelhő → 16×11×32 jellemzőtérkép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33101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Kamera-autoenkóderek (teszthalmaz)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53492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Konvolúciós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30,58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Reziduális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309360" y="33101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LiDAR-autoenkóderek (látens minősége)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39312"/>
          <a:ext cx="5321808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Simaság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66928" y="5230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492A"/>
                </a:solidFill>
              </a:rPr>
              <a:t>Választás: konvolúciós kamera-AE (legkisebb hiba) + gráf-alapú LiDAR-AE (legsimább látens, nem ugrál képkockák között).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Enkóderek és szenzorfúzió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55"/>
                </a:solidFill>
              </a:rPr>
              <a:t>Két előre betanított enkóder tömöríti a szenzoradatot; a tanítás alatt a súlyaik fixek, és csak a látens kerül az ágenshez.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Kamera — konvolúciós autoenkóder</a:t>
            </a:r>
            <a:endParaRPr lang="en-US" sz="1400" dirty="0"/>
          </a:p>
        </p:txBody>
      </p:sp>
      <p:sp>
        <p:nvSpPr>
          <p:cNvPr id="5" name="ae0-be"/>
          <p:cNvSpPr/>
          <p:nvPr/>
        </p:nvSpPr>
        <p:spPr>
          <a:xfrm>
            <a:off x="566928" y="1783080"/>
            <a:ext cx="5321808" cy="384048"/>
          </a:xfrm>
          <a:prstGeom prst="roundRect">
            <a:avLst>
              <a:gd name="adj" fmla="val 14286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RGB kép · 3×80×160</a:t>
            </a:r>
            <a:endParaRPr lang="en-US" sz="1150" dirty="0"/>
          </a:p>
        </p:txBody>
      </p:sp>
      <p:sp>
        <p:nvSpPr>
          <p:cNvPr id="7" name="ae0-ny1"/>
          <p:cNvSpPr/>
          <p:nvPr/>
        </p:nvSpPr>
        <p:spPr>
          <a:xfrm>
            <a:off x="3227832" y="216712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8" name="ae0-enk"/>
          <p:cNvSpPr/>
          <p:nvPr/>
        </p:nvSpPr>
        <p:spPr>
          <a:xfrm>
            <a:off x="566928" y="2441448"/>
            <a:ext cx="53218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9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96312"/>
            <a:ext cx="5321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92A"/>
                </a:solidFill>
              </a:rPr>
              <a:t>Enkóder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15768"/>
            <a:ext cx="5138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4× konvolúciós blokk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4×4 kernel, 2-es lépésköz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BatchNorm + LeakyReLU</a:t>
            </a:r>
            <a:endParaRPr lang="en-US" sz="1050" dirty="0"/>
          </a:p>
        </p:txBody>
      </p:sp>
      <p:sp>
        <p:nvSpPr>
          <p:cNvPr id="11" name="ae0-ny2"/>
          <p:cNvSpPr/>
          <p:nvPr/>
        </p:nvSpPr>
        <p:spPr>
          <a:xfrm>
            <a:off x="3227832" y="335584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12" name="ae0-lat"/>
          <p:cNvSpPr/>
          <p:nvPr/>
        </p:nvSpPr>
        <p:spPr>
          <a:xfrm>
            <a:off x="1664208" y="3630168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64208" y="36301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Látens  128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LiDAR — gráf-alapú autoenkóder</a:t>
            </a:r>
            <a:endParaRPr lang="en-US" sz="1400" dirty="0"/>
          </a:p>
        </p:txBody>
      </p:sp>
      <p:sp>
        <p:nvSpPr>
          <p:cNvPr id="15" name="ae1-be"/>
          <p:cNvSpPr/>
          <p:nvPr/>
        </p:nvSpPr>
        <p:spPr>
          <a:xfrm>
            <a:off x="6309360" y="1783080"/>
            <a:ext cx="5321808" cy="384048"/>
          </a:xfrm>
          <a:prstGeom prst="roundRect">
            <a:avLst>
              <a:gd name="adj" fmla="val 14286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Távolságkép · 360°-os pásztázás</a:t>
            </a:r>
            <a:endParaRPr lang="en-US" sz="1150" dirty="0"/>
          </a:p>
        </p:txBody>
      </p:sp>
      <p:sp>
        <p:nvSpPr>
          <p:cNvPr id="17" name="ae1-ny1"/>
          <p:cNvSpPr/>
          <p:nvPr/>
        </p:nvSpPr>
        <p:spPr>
          <a:xfrm>
            <a:off x="8970264" y="216712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18" name="ae1-enk"/>
          <p:cNvSpPr/>
          <p:nvPr/>
        </p:nvSpPr>
        <p:spPr>
          <a:xfrm>
            <a:off x="6309360" y="2441448"/>
            <a:ext cx="53218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496312"/>
            <a:ext cx="5321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3C"/>
                </a:solidFill>
              </a:rPr>
              <a:t>Enkóder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715768"/>
            <a:ext cx="5138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konvolúciós + gráfrétegek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azimut-körkörös szomszédság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TopoLiDM mintájára</a:t>
            </a:r>
            <a:endParaRPr lang="en-US" sz="1050" dirty="0"/>
          </a:p>
        </p:txBody>
      </p:sp>
      <p:sp>
        <p:nvSpPr>
          <p:cNvPr id="21" name="ae1-ny2"/>
          <p:cNvSpPr/>
          <p:nvPr/>
        </p:nvSpPr>
        <p:spPr>
          <a:xfrm>
            <a:off x="8970264" y="335584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22" name="ae1-lat"/>
          <p:cNvSpPr/>
          <p:nvPr/>
        </p:nvSpPr>
        <p:spPr>
          <a:xfrm>
            <a:off x="7406640" y="3630168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36301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Látens  16×11×32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069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F6B55"/>
                </a:solidFill>
              </a:rPr>
              <a:t>A dekóderre csak a tanításhoz van szükség — az ágens már egyedül a látenst kapja meg.</a:t>
            </a:r>
            <a:endParaRPr lang="en-US" sz="1050" dirty="0"/>
          </a:p>
        </p:txBody>
      </p:sp>
      <p:sp>
        <p:nvSpPr>
          <p:cNvPr id="25" name="valaszto"/>
          <p:cNvSpPr/>
          <p:nvPr/>
        </p:nvSpPr>
        <p:spPr>
          <a:xfrm>
            <a:off x="566928" y="4407408"/>
            <a:ext cx="11064240" cy="0"/>
          </a:xfrm>
          <a:prstGeom prst="line">
            <a:avLst/>
          </a:prstGeom>
          <a:noFill/>
          <a:ln w="12700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44622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Fúziós pipeline (a saját jellemzőkinyerő)</a:t>
            </a:r>
            <a:endParaRPr lang="en-US" sz="1400" dirty="0"/>
          </a:p>
        </p:txBody>
      </p:sp>
      <p:sp>
        <p:nvSpPr>
          <p:cNvPr id="27" name="fz-0"/>
          <p:cNvSpPr/>
          <p:nvPr/>
        </p:nvSpPr>
        <p:spPr>
          <a:xfrm>
            <a:off x="68580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Kamera-ág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lineáris → 256</a:t>
            </a:r>
            <a:endParaRPr lang="en-US" sz="1000" dirty="0"/>
          </a:p>
        </p:txBody>
      </p:sp>
      <p:sp>
        <p:nvSpPr>
          <p:cNvPr id="29" name="fz-1"/>
          <p:cNvSpPr/>
          <p:nvPr/>
        </p:nvSpPr>
        <p:spPr>
          <a:xfrm>
            <a:off x="466344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659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LiDAR-ág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konvolúció → 256</a:t>
            </a:r>
            <a:endParaRPr lang="en-US" sz="1000" dirty="0"/>
          </a:p>
        </p:txBody>
      </p:sp>
      <p:sp>
        <p:nvSpPr>
          <p:cNvPr id="31" name="fz-2"/>
          <p:cNvSpPr/>
          <p:nvPr/>
        </p:nvSpPr>
        <p:spPr>
          <a:xfrm>
            <a:off x="864108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1423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Állapotág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sebesség, irányszög,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manőver, waypointok → 64</a:t>
            </a:r>
            <a:endParaRPr lang="en-US" sz="1000" dirty="0"/>
          </a:p>
        </p:txBody>
      </p:sp>
      <p:sp>
        <p:nvSpPr>
          <p:cNvPr id="33" name="fz-ny-k"/>
          <p:cNvSpPr/>
          <p:nvPr/>
        </p:nvSpPr>
        <p:spPr>
          <a:xfrm>
            <a:off x="2103120" y="5340096"/>
            <a:ext cx="0" cy="237744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4" name="fz-ny-l"/>
          <p:cNvSpPr/>
          <p:nvPr/>
        </p:nvSpPr>
        <p:spPr>
          <a:xfrm>
            <a:off x="6080760" y="5340096"/>
            <a:ext cx="0" cy="237744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5" name="fz-vz1"/>
          <p:cNvSpPr/>
          <p:nvPr/>
        </p:nvSpPr>
        <p:spPr>
          <a:xfrm>
            <a:off x="2103120" y="5577840"/>
            <a:ext cx="3977640" cy="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6" name="fz-plusz"/>
          <p:cNvSpPr/>
          <p:nvPr/>
        </p:nvSpPr>
        <p:spPr>
          <a:xfrm>
            <a:off x="3918204" y="5577840"/>
            <a:ext cx="347472" cy="347472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18204" y="5577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347972" y="5614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6B55"/>
                </a:solidFill>
              </a:rPr>
              <a:t>összeadás a közös 256-os térben</a:t>
            </a:r>
            <a:endParaRPr lang="en-US" sz="950" dirty="0"/>
          </a:p>
        </p:txBody>
      </p:sp>
      <p:sp>
        <p:nvSpPr>
          <p:cNvPr id="39" name="fz-ny-add"/>
          <p:cNvSpPr/>
          <p:nvPr/>
        </p:nvSpPr>
        <p:spPr>
          <a:xfrm>
            <a:off x="4091940" y="5925312"/>
            <a:ext cx="0" cy="18288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40" name="fz-ny-a"/>
          <p:cNvSpPr/>
          <p:nvPr/>
        </p:nvSpPr>
        <p:spPr>
          <a:xfrm>
            <a:off x="10058400" y="5340096"/>
            <a:ext cx="0" cy="768096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41" name="fz-konkat"/>
          <p:cNvSpPr/>
          <p:nvPr/>
        </p:nvSpPr>
        <p:spPr>
          <a:xfrm>
            <a:off x="566928" y="6108192"/>
            <a:ext cx="11064240" cy="310896"/>
          </a:xfrm>
          <a:prstGeom prst="roundRect">
            <a:avLst>
              <a:gd name="adj" fmla="val 17647"/>
            </a:avLst>
          </a:prstGeom>
          <a:solidFill>
            <a:srgbClr val="CFE0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61081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92A"/>
                </a:solidFill>
              </a:rPr>
              <a:t>Konkatenálás  →  SAC aktor és kritikus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R1 — Sávtartás és szabályos előzés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Kézzel formált jutalomtagok minden forgalmi helyzetre</a:t>
            </a:r>
            <a:endParaRPr lang="en-US" sz="1400" dirty="0"/>
          </a:p>
        </p:txBody>
      </p:sp>
      <p:sp>
        <p:nvSpPr>
          <p:cNvPr id="4" name="R1-videohely"/>
          <p:cNvSpPr/>
          <p:nvPr/>
        </p:nvSpPr>
        <p:spPr>
          <a:xfrm>
            <a:off x="566928" y="1572768"/>
            <a:ext cx="6309360" cy="3547872"/>
          </a:xfrm>
          <a:prstGeom prst="roundRect">
            <a:avLst>
              <a:gd name="adj" fmla="val 1546"/>
            </a:avLst>
          </a:prstGeom>
          <a:solidFill>
            <a:srgbClr val="EEF2EE"/>
          </a:solidFill>
          <a:ln w="19050">
            <a:solidFill>
              <a:srgbClr val="00492A"/>
            </a:solidFill>
            <a:prstDash val="dash"/>
          </a:ln>
        </p:spPr>
      </p:sp>
      <p:sp>
        <p:nvSpPr>
          <p:cNvPr id="5" name="R1-play-kor"/>
          <p:cNvSpPr/>
          <p:nvPr/>
        </p:nvSpPr>
        <p:spPr>
          <a:xfrm>
            <a:off x="3401568" y="2761488"/>
            <a:ext cx="640080" cy="640080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1-play"/>
          <p:cNvSpPr/>
          <p:nvPr/>
        </p:nvSpPr>
        <p:spPr>
          <a:xfrm rot="5400000">
            <a:off x="3602736" y="2898648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eval/videos/R1_&lt;scene&gt;_rep1.mp4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5727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92A"/>
                </a:solidFill>
              </a:rPr>
              <a:t>Eredmények — 50 bejárás</a:t>
            </a:r>
            <a:endParaRPr lang="en-US" sz="1300" dirty="0"/>
          </a:p>
        </p:txBody>
      </p:sp>
      <p:sp>
        <p:nvSpPr>
          <p:cNvPr id="10" name="R1-ert-0"/>
          <p:cNvSpPr/>
          <p:nvPr/>
        </p:nvSpPr>
        <p:spPr>
          <a:xfrm>
            <a:off x="7114032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39,6 km/h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87184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átlagsebesség</a:t>
            </a:r>
            <a:endParaRPr lang="en-US" sz="1100" dirty="0"/>
          </a:p>
        </p:txBody>
      </p:sp>
      <p:sp>
        <p:nvSpPr>
          <p:cNvPr id="13" name="R1-ert-1"/>
          <p:cNvSpPr/>
          <p:nvPr/>
        </p:nvSpPr>
        <p:spPr>
          <a:xfrm>
            <a:off x="9454896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54896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1009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528048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elhaladás</a:t>
            </a:r>
            <a:endParaRPr lang="en-US" sz="1100" dirty="0"/>
          </a:p>
        </p:txBody>
      </p:sp>
      <p:sp>
        <p:nvSpPr>
          <p:cNvPr id="16" name="R1-ert-2"/>
          <p:cNvSpPr/>
          <p:nvPr/>
        </p:nvSpPr>
        <p:spPr>
          <a:xfrm>
            <a:off x="7114032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94,0 %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szabályos</a:t>
            </a:r>
            <a:endParaRPr lang="en-US" sz="1100" dirty="0"/>
          </a:p>
        </p:txBody>
      </p:sp>
      <p:sp>
        <p:nvSpPr>
          <p:cNvPr id="19" name="R1-ert-3"/>
          <p:cNvSpPr/>
          <p:nvPr/>
        </p:nvSpPr>
        <p:spPr>
          <a:xfrm>
            <a:off x="9454896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54896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74,6 %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sikeres kísérlet</a:t>
            </a:r>
            <a:endParaRPr lang="en-US" sz="1100" dirty="0"/>
          </a:p>
        </p:txBody>
      </p:sp>
      <p:sp>
        <p:nvSpPr>
          <p:cNvPr id="22" name="R1-ert-4"/>
          <p:cNvSpPr/>
          <p:nvPr/>
        </p:nvSpPr>
        <p:spPr>
          <a:xfrm>
            <a:off x="7114032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86,4 %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sávközép</a:t>
            </a:r>
            <a:endParaRPr lang="en-US" sz="1100" dirty="0"/>
          </a:p>
        </p:txBody>
      </p:sp>
      <p:sp>
        <p:nvSpPr>
          <p:cNvPr id="25" name="R1-ert-5"/>
          <p:cNvSpPr/>
          <p:nvPr/>
        </p:nvSpPr>
        <p:spPr>
          <a:xfrm>
            <a:off x="9454896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11,8 %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elütési arány</a:t>
            </a:r>
            <a:endParaRPr lang="en-US" sz="1100" dirty="0"/>
          </a:p>
        </p:txBody>
      </p:sp>
      <p:sp>
        <p:nvSpPr>
          <p:cNvPr id="28" name="R1-zaro"/>
          <p:cNvSpPr/>
          <p:nvPr/>
        </p:nvSpPr>
        <p:spPr>
          <a:xfrm>
            <a:off x="566928" y="53218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21808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legszabályosabb és a legjobb sávtartású modell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R2 — Ütközésidő-büntetés előzhető helyzetben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Egyetlen változtatás az R1-hez képest: kiterjesztett TTC-büntetés</a:t>
            </a:r>
            <a:endParaRPr lang="en-US" sz="1400" dirty="0"/>
          </a:p>
        </p:txBody>
      </p:sp>
      <p:sp>
        <p:nvSpPr>
          <p:cNvPr id="4" name="R2-videohely"/>
          <p:cNvSpPr/>
          <p:nvPr/>
        </p:nvSpPr>
        <p:spPr>
          <a:xfrm>
            <a:off x="566928" y="1572768"/>
            <a:ext cx="6309360" cy="3547872"/>
          </a:xfrm>
          <a:prstGeom prst="roundRect">
            <a:avLst>
              <a:gd name="adj" fmla="val 1546"/>
            </a:avLst>
          </a:prstGeom>
          <a:solidFill>
            <a:srgbClr val="EEF2EE"/>
          </a:solidFill>
          <a:ln w="19050">
            <a:solidFill>
              <a:srgbClr val="00703C"/>
            </a:solidFill>
            <a:prstDash val="dash"/>
          </a:ln>
        </p:spPr>
      </p:sp>
      <p:sp>
        <p:nvSpPr>
          <p:cNvPr id="5" name="R2-play-kor"/>
          <p:cNvSpPr/>
          <p:nvPr/>
        </p:nvSpPr>
        <p:spPr>
          <a:xfrm>
            <a:off x="3401568" y="2761488"/>
            <a:ext cx="640080" cy="6400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2-play"/>
          <p:cNvSpPr/>
          <p:nvPr/>
        </p:nvSpPr>
        <p:spPr>
          <a:xfrm rot="5400000">
            <a:off x="3602736" y="2898648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eval/videos/R2_&lt;scene&gt;_rep1.mp4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5727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3C"/>
                </a:solidFill>
              </a:rPr>
              <a:t>Eredmények — 50 bejárás</a:t>
            </a:r>
            <a:endParaRPr lang="en-US" sz="1300" dirty="0"/>
          </a:p>
        </p:txBody>
      </p:sp>
      <p:sp>
        <p:nvSpPr>
          <p:cNvPr id="10" name="R2-ert-0"/>
          <p:cNvSpPr/>
          <p:nvPr/>
        </p:nvSpPr>
        <p:spPr>
          <a:xfrm>
            <a:off x="7114032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35,5 km/h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87184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átlagsebesség</a:t>
            </a:r>
            <a:endParaRPr lang="en-US" sz="1100" dirty="0"/>
          </a:p>
        </p:txBody>
      </p:sp>
      <p:sp>
        <p:nvSpPr>
          <p:cNvPr id="13" name="R2-ert-1"/>
          <p:cNvSpPr/>
          <p:nvPr/>
        </p:nvSpPr>
        <p:spPr>
          <a:xfrm>
            <a:off x="9454896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54896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827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528048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elhaladás</a:t>
            </a:r>
            <a:endParaRPr lang="en-US" sz="1100" dirty="0"/>
          </a:p>
        </p:txBody>
      </p:sp>
      <p:sp>
        <p:nvSpPr>
          <p:cNvPr id="16" name="R2-ert-2"/>
          <p:cNvSpPr/>
          <p:nvPr/>
        </p:nvSpPr>
        <p:spPr>
          <a:xfrm>
            <a:off x="7114032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93,3 %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szabályos</a:t>
            </a:r>
            <a:endParaRPr lang="en-US" sz="1100" dirty="0"/>
          </a:p>
        </p:txBody>
      </p:sp>
      <p:sp>
        <p:nvSpPr>
          <p:cNvPr id="19" name="R2-ert-3"/>
          <p:cNvSpPr/>
          <p:nvPr/>
        </p:nvSpPr>
        <p:spPr>
          <a:xfrm>
            <a:off x="9454896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54896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60,4 %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sikeres kísérlet</a:t>
            </a:r>
            <a:endParaRPr lang="en-US" sz="1100" dirty="0"/>
          </a:p>
        </p:txBody>
      </p:sp>
      <p:sp>
        <p:nvSpPr>
          <p:cNvPr id="22" name="R2-ert-4"/>
          <p:cNvSpPr/>
          <p:nvPr/>
        </p:nvSpPr>
        <p:spPr>
          <a:xfrm>
            <a:off x="7114032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73,7 %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sávközép</a:t>
            </a:r>
            <a:endParaRPr lang="en-US" sz="1100" dirty="0"/>
          </a:p>
        </p:txBody>
      </p:sp>
      <p:sp>
        <p:nvSpPr>
          <p:cNvPr id="25" name="R2-ert-5"/>
          <p:cNvSpPr/>
          <p:nvPr/>
        </p:nvSpPr>
        <p:spPr>
          <a:xfrm>
            <a:off x="9454896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10,3 %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elütési arány</a:t>
            </a:r>
            <a:endParaRPr lang="en-US" sz="1100" dirty="0"/>
          </a:p>
        </p:txBody>
      </p:sp>
      <p:sp>
        <p:nvSpPr>
          <p:cNvPr id="28" name="R2-zaro"/>
          <p:cNvSpPr/>
          <p:nvPr/>
        </p:nvSpPr>
        <p:spPr>
          <a:xfrm>
            <a:off x="566928" y="53218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21808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Óvatosabb lett: 1009 → 827 elhaladás, a sikerarány 74,6 → 60,4 %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R3 — Hangolás bátrabb előzésre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Négy ponton hangoltam, hogy megérje kiállni előzni</a:t>
            </a:r>
            <a:endParaRPr lang="en-US" sz="1400" dirty="0"/>
          </a:p>
        </p:txBody>
      </p:sp>
      <p:sp>
        <p:nvSpPr>
          <p:cNvPr id="4" name="R3-videohely"/>
          <p:cNvSpPr/>
          <p:nvPr/>
        </p:nvSpPr>
        <p:spPr>
          <a:xfrm>
            <a:off x="566928" y="1572768"/>
            <a:ext cx="6309360" cy="3547872"/>
          </a:xfrm>
          <a:prstGeom prst="roundRect">
            <a:avLst>
              <a:gd name="adj" fmla="val 1546"/>
            </a:avLst>
          </a:prstGeom>
          <a:solidFill>
            <a:srgbClr val="EEF2EE"/>
          </a:solidFill>
          <a:ln w="19050">
            <a:solidFill>
              <a:srgbClr val="00703C"/>
            </a:solidFill>
            <a:prstDash val="dash"/>
          </a:ln>
        </p:spPr>
      </p:sp>
      <p:sp>
        <p:nvSpPr>
          <p:cNvPr id="5" name="R3-play-kor"/>
          <p:cNvSpPr/>
          <p:nvPr/>
        </p:nvSpPr>
        <p:spPr>
          <a:xfrm>
            <a:off x="3401568" y="2761488"/>
            <a:ext cx="640080" cy="6400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3-play"/>
          <p:cNvSpPr/>
          <p:nvPr/>
        </p:nvSpPr>
        <p:spPr>
          <a:xfrm rot="5400000">
            <a:off x="3602736" y="2898648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eval/videos/R3_&lt;scene&gt;_rep1.mp4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5727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3C"/>
                </a:solidFill>
              </a:rPr>
              <a:t>Eredmények — 50 bejárás</a:t>
            </a:r>
            <a:endParaRPr lang="en-US" sz="1300" dirty="0"/>
          </a:p>
        </p:txBody>
      </p:sp>
      <p:sp>
        <p:nvSpPr>
          <p:cNvPr id="10" name="R3-ert-0"/>
          <p:cNvSpPr/>
          <p:nvPr/>
        </p:nvSpPr>
        <p:spPr>
          <a:xfrm>
            <a:off x="7114032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31,7 km/h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87184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átlagsebesség</a:t>
            </a:r>
            <a:endParaRPr lang="en-US" sz="1100" dirty="0"/>
          </a:p>
        </p:txBody>
      </p:sp>
      <p:sp>
        <p:nvSpPr>
          <p:cNvPr id="13" name="R3-ert-1"/>
          <p:cNvSpPr/>
          <p:nvPr/>
        </p:nvSpPr>
        <p:spPr>
          <a:xfrm>
            <a:off x="9454896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54896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556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528048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elhaladás</a:t>
            </a:r>
            <a:endParaRPr lang="en-US" sz="1100" dirty="0"/>
          </a:p>
        </p:txBody>
      </p:sp>
      <p:sp>
        <p:nvSpPr>
          <p:cNvPr id="16" name="R3-ert-2"/>
          <p:cNvSpPr/>
          <p:nvPr/>
        </p:nvSpPr>
        <p:spPr>
          <a:xfrm>
            <a:off x="7114032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90,8 %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szabályos</a:t>
            </a:r>
            <a:endParaRPr lang="en-US" sz="1100" dirty="0"/>
          </a:p>
        </p:txBody>
      </p:sp>
      <p:sp>
        <p:nvSpPr>
          <p:cNvPr id="19" name="R3-ert-3"/>
          <p:cNvSpPr/>
          <p:nvPr/>
        </p:nvSpPr>
        <p:spPr>
          <a:xfrm>
            <a:off x="9454896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54896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45,8 %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sikeres kísérlet</a:t>
            </a:r>
            <a:endParaRPr lang="en-US" sz="1100" dirty="0"/>
          </a:p>
        </p:txBody>
      </p:sp>
      <p:sp>
        <p:nvSpPr>
          <p:cNvPr id="22" name="R3-ert-4"/>
          <p:cNvSpPr/>
          <p:nvPr/>
        </p:nvSpPr>
        <p:spPr>
          <a:xfrm>
            <a:off x="7114032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59,8 %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sávközép</a:t>
            </a:r>
            <a:endParaRPr lang="en-US" sz="1100" dirty="0"/>
          </a:p>
        </p:txBody>
      </p:sp>
      <p:sp>
        <p:nvSpPr>
          <p:cNvPr id="25" name="R3-ert-5"/>
          <p:cNvSpPr/>
          <p:nvPr/>
        </p:nvSpPr>
        <p:spPr>
          <a:xfrm>
            <a:off x="9454896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703C"/>
                </a:solidFill>
              </a:rPr>
              <a:t>15,1 %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elütési arány</a:t>
            </a:r>
            <a:endParaRPr lang="en-US" sz="1100" dirty="0"/>
          </a:p>
        </p:txBody>
      </p:sp>
      <p:sp>
        <p:nvSpPr>
          <p:cNvPr id="28" name="R3-zaro"/>
          <p:cNvSpPr/>
          <p:nvPr/>
        </p:nvSpPr>
        <p:spPr>
          <a:xfrm>
            <a:off x="566928" y="53218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21808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várttal ellentétben ez előzött a legkevesebbet és ütött el arányaiban a legtöbbet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R4 — Haladásalapú jutalom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A kézi tagok helyett egyetlen fizikai mennyiség: r = v · cos θ · l · k</a:t>
            </a:r>
            <a:endParaRPr lang="en-US" sz="1400" dirty="0"/>
          </a:p>
        </p:txBody>
      </p:sp>
      <p:sp>
        <p:nvSpPr>
          <p:cNvPr id="4" name="R4-videohely"/>
          <p:cNvSpPr/>
          <p:nvPr/>
        </p:nvSpPr>
        <p:spPr>
          <a:xfrm>
            <a:off x="566928" y="1572768"/>
            <a:ext cx="6309360" cy="3547872"/>
          </a:xfrm>
          <a:prstGeom prst="roundRect">
            <a:avLst>
              <a:gd name="adj" fmla="val 1546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5" name="R4-play-kor"/>
          <p:cNvSpPr/>
          <p:nvPr/>
        </p:nvSpPr>
        <p:spPr>
          <a:xfrm>
            <a:off x="3401568" y="2761488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4-play"/>
          <p:cNvSpPr/>
          <p:nvPr/>
        </p:nvSpPr>
        <p:spPr>
          <a:xfrm rot="5400000">
            <a:off x="3602736" y="2898648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eval/videos/R4_&lt;scene&gt;_rep1.mp4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5727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12F"/>
                </a:solidFill>
              </a:rPr>
              <a:t>Eredmények — 50 bejárás</a:t>
            </a:r>
            <a:endParaRPr lang="en-US" sz="1300" dirty="0"/>
          </a:p>
        </p:txBody>
      </p:sp>
      <p:sp>
        <p:nvSpPr>
          <p:cNvPr id="10" name="R4-ert-0"/>
          <p:cNvSpPr/>
          <p:nvPr/>
        </p:nvSpPr>
        <p:spPr>
          <a:xfrm>
            <a:off x="7114032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39,4 km/h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87184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átlagsebesség</a:t>
            </a:r>
            <a:endParaRPr lang="en-US" sz="1100" dirty="0"/>
          </a:p>
        </p:txBody>
      </p:sp>
      <p:sp>
        <p:nvSpPr>
          <p:cNvPr id="13" name="R4-ert-1"/>
          <p:cNvSpPr/>
          <p:nvPr/>
        </p:nvSpPr>
        <p:spPr>
          <a:xfrm>
            <a:off x="9454896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54896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1018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528048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elhaladás</a:t>
            </a:r>
            <a:endParaRPr lang="en-US" sz="1100" dirty="0"/>
          </a:p>
        </p:txBody>
      </p:sp>
      <p:sp>
        <p:nvSpPr>
          <p:cNvPr id="16" name="R4-ert-2"/>
          <p:cNvSpPr/>
          <p:nvPr/>
        </p:nvSpPr>
        <p:spPr>
          <a:xfrm>
            <a:off x="7114032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90,3 %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szabályos</a:t>
            </a:r>
            <a:endParaRPr lang="en-US" sz="1100" dirty="0"/>
          </a:p>
        </p:txBody>
      </p:sp>
      <p:sp>
        <p:nvSpPr>
          <p:cNvPr id="19" name="R4-ert-3"/>
          <p:cNvSpPr/>
          <p:nvPr/>
        </p:nvSpPr>
        <p:spPr>
          <a:xfrm>
            <a:off x="9454896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54896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72,3 %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sikeres kísérlet</a:t>
            </a:r>
            <a:endParaRPr lang="en-US" sz="1100" dirty="0"/>
          </a:p>
        </p:txBody>
      </p:sp>
      <p:sp>
        <p:nvSpPr>
          <p:cNvPr id="22" name="R4-ert-4"/>
          <p:cNvSpPr/>
          <p:nvPr/>
        </p:nvSpPr>
        <p:spPr>
          <a:xfrm>
            <a:off x="7114032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72,5 %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sávközép</a:t>
            </a:r>
            <a:endParaRPr lang="en-US" sz="1100" dirty="0"/>
          </a:p>
        </p:txBody>
      </p:sp>
      <p:sp>
        <p:nvSpPr>
          <p:cNvPr id="25" name="R4-ert-5"/>
          <p:cNvSpPr/>
          <p:nvPr/>
        </p:nvSpPr>
        <p:spPr>
          <a:xfrm>
            <a:off x="9454896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11,1 %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elütési arány</a:t>
            </a:r>
            <a:endParaRPr lang="en-US" sz="1100" dirty="0"/>
          </a:p>
        </p:txBody>
      </p:sp>
      <p:sp>
        <p:nvSpPr>
          <p:cNvPr id="28" name="R4-zaro"/>
          <p:cNvSpPr/>
          <p:nvPr/>
        </p:nvSpPr>
        <p:spPr>
          <a:xfrm>
            <a:off x="566928" y="53218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21808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Kézi ösztönzés nélkül visszatért az előzés: 556 → 1018 elhaladás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R5 — Potenciálalapú jutalomformálás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R4 + egyetlen tag: F = γ·Φ(s′) − Φ(s), ami előbbre hozza a jutalmat</a:t>
            </a:r>
            <a:endParaRPr lang="en-US" sz="1400" dirty="0"/>
          </a:p>
        </p:txBody>
      </p:sp>
      <p:sp>
        <p:nvSpPr>
          <p:cNvPr id="4" name="R5-videohely"/>
          <p:cNvSpPr/>
          <p:nvPr/>
        </p:nvSpPr>
        <p:spPr>
          <a:xfrm>
            <a:off x="566928" y="1572768"/>
            <a:ext cx="6309360" cy="3547872"/>
          </a:xfrm>
          <a:prstGeom prst="roundRect">
            <a:avLst>
              <a:gd name="adj" fmla="val 1546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5" name="R5-play-kor"/>
          <p:cNvSpPr/>
          <p:nvPr/>
        </p:nvSpPr>
        <p:spPr>
          <a:xfrm>
            <a:off x="3401568" y="2761488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5-play"/>
          <p:cNvSpPr/>
          <p:nvPr/>
        </p:nvSpPr>
        <p:spPr>
          <a:xfrm rot="5400000">
            <a:off x="3602736" y="2898648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eval/videos/R5_&lt;scene&gt;_rep1.mp4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57276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12F"/>
                </a:solidFill>
              </a:rPr>
              <a:t>Eredmények — 50 bejárás</a:t>
            </a:r>
            <a:endParaRPr lang="en-US" sz="1300" dirty="0"/>
          </a:p>
        </p:txBody>
      </p:sp>
      <p:sp>
        <p:nvSpPr>
          <p:cNvPr id="10" name="R5-ert-0"/>
          <p:cNvSpPr/>
          <p:nvPr/>
        </p:nvSpPr>
        <p:spPr>
          <a:xfrm>
            <a:off x="7114032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40,1 km/h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87184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átlagsebesség</a:t>
            </a:r>
            <a:endParaRPr lang="en-US" sz="1100" dirty="0"/>
          </a:p>
        </p:txBody>
      </p:sp>
      <p:sp>
        <p:nvSpPr>
          <p:cNvPr id="13" name="R5-ert-1"/>
          <p:cNvSpPr/>
          <p:nvPr/>
        </p:nvSpPr>
        <p:spPr>
          <a:xfrm>
            <a:off x="9454896" y="1920240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54896" y="20299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1017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528048" y="2487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elhaladás</a:t>
            </a:r>
            <a:endParaRPr lang="en-US" sz="1100" dirty="0"/>
          </a:p>
        </p:txBody>
      </p:sp>
      <p:sp>
        <p:nvSpPr>
          <p:cNvPr id="16" name="R5-ert-2"/>
          <p:cNvSpPr/>
          <p:nvPr/>
        </p:nvSpPr>
        <p:spPr>
          <a:xfrm>
            <a:off x="7114032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91,8 %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szabályos</a:t>
            </a:r>
            <a:endParaRPr lang="en-US" sz="1100" dirty="0"/>
          </a:p>
        </p:txBody>
      </p:sp>
      <p:sp>
        <p:nvSpPr>
          <p:cNvPr id="19" name="R5-ert-3"/>
          <p:cNvSpPr/>
          <p:nvPr/>
        </p:nvSpPr>
        <p:spPr>
          <a:xfrm>
            <a:off x="9454896" y="2999232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54896" y="310896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75,0 %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3566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sikeres kísérlet</a:t>
            </a:r>
            <a:endParaRPr lang="en-US" sz="1100" dirty="0"/>
          </a:p>
        </p:txBody>
      </p:sp>
      <p:sp>
        <p:nvSpPr>
          <p:cNvPr id="22" name="R5-ert-4"/>
          <p:cNvSpPr/>
          <p:nvPr/>
        </p:nvSpPr>
        <p:spPr>
          <a:xfrm>
            <a:off x="7114032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12F"/>
                </a:solidFill>
              </a:rPr>
              <a:t>70,3 %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sávközép</a:t>
            </a:r>
            <a:endParaRPr lang="en-US" sz="1100" dirty="0"/>
          </a:p>
        </p:txBody>
      </p:sp>
      <p:sp>
        <p:nvSpPr>
          <p:cNvPr id="25" name="R5-ert-5"/>
          <p:cNvSpPr/>
          <p:nvPr/>
        </p:nvSpPr>
        <p:spPr>
          <a:xfrm>
            <a:off x="9454896" y="4078224"/>
            <a:ext cx="2176272" cy="969264"/>
          </a:xfrm>
          <a:prstGeom prst="roundRect">
            <a:avLst>
              <a:gd name="adj" fmla="val 566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41879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492A"/>
                </a:solidFill>
              </a:rPr>
              <a:t>10,2 %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6B55"/>
                </a:solidFill>
              </a:rPr>
              <a:t>elütési arány</a:t>
            </a:r>
            <a:endParaRPr lang="en-US" sz="1100" dirty="0"/>
          </a:p>
        </p:txBody>
      </p:sp>
      <p:sp>
        <p:nvSpPr>
          <p:cNvPr id="28" name="R5-zaro"/>
          <p:cNvSpPr/>
          <p:nvPr/>
        </p:nvSpPr>
        <p:spPr>
          <a:xfrm>
            <a:off x="566928" y="53218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21808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leggyorsabb, a legjobb sikerarányú és a legkisebb elütési arányú modell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Mérési szcenáriók és módszertan</a:t>
            </a:r>
            <a:endParaRPr lang="en-US" sz="3200" dirty="0"/>
          </a:p>
        </p:txBody>
      </p:sp>
      <p:pic>
        <p:nvPicPr>
          <p:cNvPr id="3" name="utvonalak" descr="/tmp/claude-1000/-home-labor-CARLA-DAVID-TDK-RL-carla-ROS2/715fc7ab-c6b5-49bf-a3d7-cea8d961abde/scratchpad/img/routes_high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75488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Autópályás kiértékelő útvonalak a Town04 térképen</a:t>
            </a:r>
            <a:endParaRPr lang="en-US" sz="1000" dirty="0"/>
          </a:p>
        </p:txBody>
      </p:sp>
      <p:sp>
        <p:nvSpPr>
          <p:cNvPr id="5" name="st-1"/>
          <p:cNvSpPr/>
          <p:nvPr/>
        </p:nvSpPr>
        <p:spPr>
          <a:xfrm>
            <a:off x="566928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3C"/>
                </a:solidFill>
              </a:rPr>
              <a:t>10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útvonal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1,05–6,09 km</a:t>
            </a:r>
            <a:endParaRPr lang="en-US" sz="1200" dirty="0"/>
          </a:p>
        </p:txBody>
      </p:sp>
      <p:sp>
        <p:nvSpPr>
          <p:cNvPr id="8" name="st-2"/>
          <p:cNvSpPr/>
          <p:nvPr/>
        </p:nvSpPr>
        <p:spPr>
          <a:xfrm>
            <a:off x="2633472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33472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3C"/>
                </a:solidFill>
              </a:rPr>
              <a:t>5×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ismétlés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útvonalonként</a:t>
            </a:r>
            <a:endParaRPr lang="en-US" sz="1200" dirty="0"/>
          </a:p>
        </p:txBody>
      </p:sp>
      <p:sp>
        <p:nvSpPr>
          <p:cNvPr id="11" name="st-3"/>
          <p:cNvSpPr/>
          <p:nvPr/>
        </p:nvSpPr>
        <p:spPr>
          <a:xfrm>
            <a:off x="4700016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0016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12F"/>
                </a:solidFill>
              </a:rPr>
              <a:t>250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809744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bejárás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modellenként 50</a:t>
            </a:r>
            <a:endParaRPr lang="en-US" sz="1200" dirty="0"/>
          </a:p>
        </p:txBody>
      </p:sp>
      <p:sp>
        <p:nvSpPr>
          <p:cNvPr id="14" name="pont-0"/>
          <p:cNvSpPr/>
          <p:nvPr/>
        </p:nvSpPr>
        <p:spPr>
          <a:xfrm>
            <a:off x="594360" y="26609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Azonos forgalom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28803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A véletlengenerátor kezdőértékét fixáltam, így adott körben minden modell ugyanazt a forgalmat kapja.</a:t>
            </a:r>
            <a:endParaRPr lang="en-US" sz="1150" dirty="0"/>
          </a:p>
        </p:txBody>
      </p:sp>
      <p:sp>
        <p:nvSpPr>
          <p:cNvPr id="17" name="pont-1"/>
          <p:cNvSpPr/>
          <p:nvPr/>
        </p:nvSpPr>
        <p:spPr>
          <a:xfrm>
            <a:off x="594360" y="35753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Nem áll le hibánál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947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Letérés, megállás vagy túlgyorsulás esetén felírom a hibát, visszahelyezem az autót, és a jelenet folytatódik.</a:t>
            </a:r>
            <a:endParaRPr lang="en-US" sz="1150" dirty="0"/>
          </a:p>
        </p:txBody>
      </p:sp>
      <p:sp>
        <p:nvSpPr>
          <p:cNvPr id="20" name="pont-2"/>
          <p:cNvSpPr/>
          <p:nvPr/>
        </p:nvSpPr>
        <p:spPr>
          <a:xfrm>
            <a:off x="594360" y="44897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Jutalomfüggetlen metrikák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7091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A kapott jutalmat nem hasonlítom össze — minden modell más függvénnyel tanult. A fizikai viselkedést mérem.</a:t>
            </a:r>
            <a:endParaRPr lang="en-US" sz="1150" dirty="0"/>
          </a:p>
        </p:txBody>
      </p:sp>
      <p:sp>
        <p:nvSpPr>
          <p:cNvPr id="23" name="pont-3"/>
          <p:cNvSpPr/>
          <p:nvPr/>
        </p:nvSpPr>
        <p:spPr>
          <a:xfrm>
            <a:off x="594360" y="54041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Kétlépéses átlagolás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6235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Először útvonalonként kilométerre vetítem, majd az útvonalak átlagát veszem — így a hosszú útvonalak nem dominálnak.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Eredmények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Négy szempont: sebesség és menetidő · előzések · kormányzás és sávtartás · ütközések és visszahelyezések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Sebesség és menetidő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Átlagsebesség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Menetidő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Célba ért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39,6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31,7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sebesseg-abra" descr="/tmp/claude-1000/-home-labor-CARLA-DAVID-TDK-RL-carla-ROS2/715fc7ab-c6b5-49bf-a3d7-cea8d961abde/scratchpad/img/eval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2331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0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átlagsebesség útvonaltípusonként. Jobbra: menetidő.</a:t>
            </a:r>
            <a:endParaRPr lang="en-US" sz="1000" dirty="0"/>
          </a:p>
        </p:txBody>
      </p:sp>
      <p:sp>
        <p:nvSpPr>
          <p:cNvPr id="6" name="kov-sebesseg"/>
          <p:cNvSpPr/>
          <p:nvPr/>
        </p:nvSpPr>
        <p:spPr>
          <a:xfrm>
            <a:off x="566928" y="397764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R2 és az R3 lelassult.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TTC-büntetés kiterjesztése, majd megerősítése óvatosabbá tette az ágenst: az R3 már csak 31,7 km/h-val ment, és 800 s-mal több időre volt szüksége, mint az R1.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 haladásalapú jutalom visszahozta a sebességet.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R4 és az R5 visszaért az R1 szintjére, sőt az R5 lett a leggyorsabb, és egyedül az R2, R3, R5 ért célba mind az 50 bejárásban.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Előzések: mennyiség és szabályosság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6629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143000"/>
                <a:gridCol w="128016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Elhaladás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Szabálytalan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Sikeres kísérlet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imenetek" descr="/tmp/claude-1000/-home-labor-CARLA-DAVID-TDK-RL-carla-ROS2/715fc7ab-c6b5-49bf-a3d7-cea8d961abde/scratchpad/img/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61872"/>
            <a:ext cx="4133088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98080" y="42245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Az előzési kísérletek kimenetelének megoszlása</a:t>
            </a:r>
            <a:endParaRPr lang="en-US" sz="1000" dirty="0"/>
          </a:p>
        </p:txBody>
      </p:sp>
      <p:sp>
        <p:nvSpPr>
          <p:cNvPr id="6" name="kov-elozes"/>
          <p:cNvSpPr/>
          <p:nvPr/>
        </p:nvSpPr>
        <p:spPr>
          <a:xfrm>
            <a:off x="566928" y="3977640"/>
            <a:ext cx="662940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492A"/>
                </a:solidFill>
              </a:rPr>
              <a:t>A hangolás visszafelé sült el.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492A"/>
                </a:solidFill>
              </a:rPr>
              <a:t>Az R3-tól bátrabb előzést vártam, mégis ez előzött a legkevesebbet: 556 elhaladás, és a kísérletek 27,8 %-át feladta.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492A"/>
                </a:solidFill>
              </a:rPr>
              <a:t>A haladásalapú jutalom működött.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492A"/>
                </a:solidFill>
              </a:rPr>
              <a:t>Az R4 kézi ösztönzés nélkül 1018 elhaladásig jutott, az R5 pedig a legjobb sikerarányt adta, mindössze 7,4 % feladott kísérlettel.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Kormányzás és sávtartás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Kormányváltozás / lépés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Sávközépen töltött 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ormany-abra" descr="/tmp/claude-1000/-home-labor-CARLA-DAVID-TDK-RL-carla-ROS2/715fc7ab-c6b5-49bf-a3d7-cea8d961abde/scratchpad/img/eval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98448"/>
            <a:ext cx="536752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63640" y="3721608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kormányváltozás. Jobbra: sáv közepén töltött idő.</a:t>
            </a:r>
            <a:endParaRPr lang="en-US" sz="1000" dirty="0"/>
          </a:p>
        </p:txBody>
      </p:sp>
      <p:sp>
        <p:nvSpPr>
          <p:cNvPr id="6" name="kov-kormany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 sávtartás romlott anélkül, hogy hozzányúltam volna.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R2-ben és R3-ban csak a TTC- és előzési tagokat változtattam, a sávtartás mégis 86,4 %-ról 73,7, majd 59,8 %-ra esett — a félbehagyott előzési kísérletek egy oda-vissza kormánymozdulatot adnak.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Ez az R1 egyetlen tartós előnye: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beágyazott sávközép- és simasági tényező miatt 86,4 %-kal a legjobban tartja a sávot.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Ütközések és visszahelyezések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0876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Elütött jármű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Elütési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Visszahelyezés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biztonsag-abra" descr="/tmp/claude-1000/-home-labor-CARLA-DAVID-TDK-RL-carla-ROS2/715fc7ab-c6b5-49bf-a3d7-cea8d961abde/scratchpad/img/eval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98448"/>
            <a:ext cx="527608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55080" y="372160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elütött járművek, jobbra: visszahelyezések száma.</a:t>
            </a:r>
            <a:endParaRPr lang="en-US" sz="1000" dirty="0"/>
          </a:p>
        </p:txBody>
      </p:sp>
      <p:sp>
        <p:nvSpPr>
          <p:cNvPr id="6" name="kov-biztonsag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arány többet mond, mint a darabszám.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R4 több járművet ütött el, de sokkal többet is előzött, így az aránya alacsonyabb — nem veszélyesebben előzött, csak többet.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R3 lett a legveszélyesebb: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15,1 %-os elütési arány, 53 visszahelyezés, és egyedül ez gyorsított rendszeresen 60 km/h fölé. Az R5 elütési aránya a legkisebb, és fele annyi visszahelyezés kellett, mint az R4-nél.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 két legjobb modell: R1 és R5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Egyértelmű győztes nincs — a két modell más-más téren erős.</a:t>
            </a:r>
            <a:endParaRPr lang="en-US" sz="1400" dirty="0"/>
          </a:p>
        </p:txBody>
      </p:sp>
      <p:sp>
        <p:nvSpPr>
          <p:cNvPr id="4" name="r1-fej"/>
          <p:cNvSpPr/>
          <p:nvPr/>
        </p:nvSpPr>
        <p:spPr>
          <a:xfrm>
            <a:off x="56692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R1 — kézi tagok</a:t>
            </a:r>
            <a:endParaRPr lang="en-US" sz="1800" dirty="0"/>
          </a:p>
        </p:txBody>
      </p:sp>
      <p:sp>
        <p:nvSpPr>
          <p:cNvPr id="6" name="r1-sor-0"/>
          <p:cNvSpPr/>
          <p:nvPr/>
        </p:nvSpPr>
        <p:spPr>
          <a:xfrm>
            <a:off x="56692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951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94,0 %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szabályos elhaladás — a legjobb</a:t>
            </a:r>
            <a:endParaRPr lang="en-US" sz="1250" dirty="0"/>
          </a:p>
        </p:txBody>
      </p:sp>
      <p:sp>
        <p:nvSpPr>
          <p:cNvPr id="9" name="r1-sor-1"/>
          <p:cNvSpPr/>
          <p:nvPr/>
        </p:nvSpPr>
        <p:spPr>
          <a:xfrm>
            <a:off x="56692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86,4 %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sávközépen töltött idő — a legjobb</a:t>
            </a:r>
            <a:endParaRPr lang="en-US" sz="1250" dirty="0"/>
          </a:p>
        </p:txBody>
      </p:sp>
      <p:sp>
        <p:nvSpPr>
          <p:cNvPr id="12" name="r1-sor-2"/>
          <p:cNvSpPr/>
          <p:nvPr/>
        </p:nvSpPr>
        <p:spPr>
          <a:xfrm>
            <a:off x="56692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31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74,6 %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8313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sikeres előzési kísérlet</a:t>
            </a:r>
            <a:endParaRPr lang="en-US" sz="1250" dirty="0"/>
          </a:p>
        </p:txBody>
      </p:sp>
      <p:sp>
        <p:nvSpPr>
          <p:cNvPr id="15" name="r1-sor-3"/>
          <p:cNvSpPr/>
          <p:nvPr/>
        </p:nvSpPr>
        <p:spPr>
          <a:xfrm>
            <a:off x="56692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599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43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599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visszahelyezés</a:t>
            </a:r>
            <a:endParaRPr lang="en-US" sz="1250" dirty="0"/>
          </a:p>
        </p:txBody>
      </p:sp>
      <p:sp>
        <p:nvSpPr>
          <p:cNvPr id="18" name="r5-fej"/>
          <p:cNvSpPr/>
          <p:nvPr/>
        </p:nvSpPr>
        <p:spPr>
          <a:xfrm>
            <a:off x="619048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048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R5 — haladás + PBRS</a:t>
            </a:r>
            <a:endParaRPr lang="en-US" sz="1800" dirty="0"/>
          </a:p>
        </p:txBody>
      </p:sp>
      <p:sp>
        <p:nvSpPr>
          <p:cNvPr id="20" name="r5-sor-0"/>
          <p:cNvSpPr/>
          <p:nvPr/>
        </p:nvSpPr>
        <p:spPr>
          <a:xfrm>
            <a:off x="619048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2951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40,1 km/h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295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a leggyorsabb, 3056 s menetidő</a:t>
            </a:r>
            <a:endParaRPr lang="en-US" sz="1250" dirty="0"/>
          </a:p>
        </p:txBody>
      </p:sp>
      <p:sp>
        <p:nvSpPr>
          <p:cNvPr id="23" name="r5-sor-1"/>
          <p:cNvSpPr/>
          <p:nvPr/>
        </p:nvSpPr>
        <p:spPr>
          <a:xfrm>
            <a:off x="619048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50/50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bejárás ért célba</a:t>
            </a:r>
            <a:endParaRPr lang="en-US" sz="1250" dirty="0"/>
          </a:p>
        </p:txBody>
      </p:sp>
      <p:sp>
        <p:nvSpPr>
          <p:cNvPr id="26" name="r5-sor-2"/>
          <p:cNvSpPr/>
          <p:nvPr/>
        </p:nvSpPr>
        <p:spPr>
          <a:xfrm>
            <a:off x="619048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38313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75,0 %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831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sikeres előzési kísérlet — a legjobb</a:t>
            </a:r>
            <a:endParaRPr lang="en-US" sz="1250" dirty="0"/>
          </a:p>
        </p:txBody>
      </p:sp>
      <p:sp>
        <p:nvSpPr>
          <p:cNvPr id="29" name="r5-sor-3"/>
          <p:cNvSpPr/>
          <p:nvPr/>
        </p:nvSpPr>
        <p:spPr>
          <a:xfrm>
            <a:off x="619048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36792" y="4599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10,2 %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elütési arány — a legkisebb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4132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492A"/>
                </a:solidFill>
              </a:rPr>
              <a:t>Az előzési kísérletek sikerében a kettő gyakorlatilag egyenlő (74,6 % és 75,0 %) — a döntés azon áll, mi a fontosabb: a szabálykövetés vagy a haladás.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Tanulságok és továbbfejlesztés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2A"/>
                </a:solidFill>
              </a:rPr>
              <a:t>Amit a mérések megmutattak</a:t>
            </a:r>
            <a:endParaRPr lang="en-US" sz="1600" dirty="0"/>
          </a:p>
        </p:txBody>
      </p:sp>
      <p:sp>
        <p:nvSpPr>
          <p:cNvPr id="4" name="tan-0"/>
          <p:cNvSpPr/>
          <p:nvPr/>
        </p:nvSpPr>
        <p:spPr>
          <a:xfrm>
            <a:off x="621792" y="1645920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5727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kézi tagok kiolthatják egymást — az ágens a szabály megkerülését tanulja meg, nem a kívánt viselkedést.</a:t>
            </a:r>
            <a:endParaRPr lang="en-US" sz="1300" dirty="0"/>
          </a:p>
        </p:txBody>
      </p:sp>
      <p:sp>
        <p:nvSpPr>
          <p:cNvPr id="6" name="tan-1"/>
          <p:cNvSpPr/>
          <p:nvPr/>
        </p:nvSpPr>
        <p:spPr>
          <a:xfrm>
            <a:off x="621792" y="2670048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5968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előzés közbeni TTC-büntetés nem működött: az ágens inkább lemaradt, mint hogy előzzön.</a:t>
            </a:r>
            <a:endParaRPr lang="en-US" sz="1300" dirty="0"/>
          </a:p>
        </p:txBody>
      </p:sp>
      <p:sp>
        <p:nvSpPr>
          <p:cNvPr id="8" name="tan-2"/>
          <p:cNvSpPr/>
          <p:nvPr/>
        </p:nvSpPr>
        <p:spPr>
          <a:xfrm>
            <a:off x="621792" y="3694176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62102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Jobb egyetlen fizikai mennyiséget jutalmazni — a lassabb autó mögött a haladás magától kevesebbet ér.</a:t>
            </a:r>
            <a:endParaRPr lang="en-US" sz="1300" dirty="0"/>
          </a:p>
        </p:txBody>
      </p:sp>
      <p:sp>
        <p:nvSpPr>
          <p:cNvPr id="10" name="tan-3"/>
          <p:cNvSpPr/>
          <p:nvPr/>
        </p:nvSpPr>
        <p:spPr>
          <a:xfrm>
            <a:off x="621792" y="47183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64515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előzést az első lépéstől érdemes jutalmazni; a potenciálalapú formálás ezt a stratégia megváltoztatása nélkül teszi meg.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14300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12F"/>
                </a:solidFill>
              </a:rPr>
              <a:t>Hogyan tovább</a:t>
            </a:r>
            <a:endParaRPr lang="en-US" sz="1600" dirty="0"/>
          </a:p>
        </p:txBody>
      </p:sp>
      <p:sp>
        <p:nvSpPr>
          <p:cNvPr id="13" name="tov-0"/>
          <p:cNvSpPr/>
          <p:nvPr/>
        </p:nvSpPr>
        <p:spPr>
          <a:xfrm>
            <a:off x="6355080" y="1536192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R5 irányában folytatom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1901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 haladásalapú jutalom és a potenciálalapú formálás kombinációja bizonyult a legígéretesebbnek.</a:t>
            </a:r>
            <a:endParaRPr lang="en-US" sz="1100" dirty="0"/>
          </a:p>
        </p:txBody>
      </p:sp>
      <p:sp>
        <p:nvSpPr>
          <p:cNvPr id="16" name="tov-1"/>
          <p:cNvSpPr/>
          <p:nvPr/>
        </p:nvSpPr>
        <p:spPr>
          <a:xfrm>
            <a:off x="6355080" y="2560320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Sávtartás visszaépítése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926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Az R1 erős sávtartását szeretném az R5-be hozni, hogy ne rángassa szükségtelenül a kormányt.</a:t>
            </a:r>
            <a:endParaRPr lang="en-US" sz="1100" dirty="0"/>
          </a:p>
        </p:txBody>
      </p:sp>
      <p:sp>
        <p:nvSpPr>
          <p:cNvPr id="19" name="tov-2"/>
          <p:cNvSpPr/>
          <p:nvPr/>
        </p:nvSpPr>
        <p:spPr>
          <a:xfrm>
            <a:off x="6355080" y="3584448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ütközések feltárása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50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Mélyebben megvizsgálnám, pontosan mely tényezők vezettek a forgalmi szereplőkkel való ütközéshez.</a:t>
            </a:r>
            <a:endParaRPr lang="en-US" sz="1100" dirty="0"/>
          </a:p>
        </p:txBody>
      </p:sp>
      <p:sp>
        <p:nvSpPr>
          <p:cNvPr id="22" name="tov-3"/>
          <p:cNvSpPr/>
          <p:nvPr/>
        </p:nvSpPr>
        <p:spPr>
          <a:xfrm>
            <a:off x="6355080" y="4608576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Sávfelfestés a látensben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974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 szabálytalan előzések egy része abból ered, hogy a látens nem őrzi meg pontosan a felfestés típusát.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Köszönöm a figyelmet!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Témavezető: Mészáros László</a:t>
            </a:r>
            <a:endParaRPr lang="en-US" sz="1600" dirty="0"/>
          </a:p>
        </p:txBody>
      </p:sp>
      <p:sp>
        <p:nvSpPr>
          <p:cNvPr id="7" name="zaro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kpi-0"/>
          <p:cNvSpPr/>
          <p:nvPr/>
        </p:nvSpPr>
        <p:spPr>
          <a:xfrm>
            <a:off x="86868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kiértékelő bejárás</a:t>
            </a:r>
            <a:endParaRPr lang="en-US" sz="1100" dirty="0"/>
          </a:p>
        </p:txBody>
      </p:sp>
      <p:sp>
        <p:nvSpPr>
          <p:cNvPr id="11" name="kpi-1"/>
          <p:cNvSpPr/>
          <p:nvPr/>
        </p:nvSpPr>
        <p:spPr>
          <a:xfrm>
            <a:off x="356616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jutalomfüggvény</a:t>
            </a:r>
            <a:endParaRPr lang="en-US" sz="1100" dirty="0"/>
          </a:p>
        </p:txBody>
      </p:sp>
      <p:sp>
        <p:nvSpPr>
          <p:cNvPr id="14" name="kpi-2"/>
          <p:cNvSpPr/>
          <p:nvPr/>
        </p:nvSpPr>
        <p:spPr>
          <a:xfrm>
            <a:off x="626364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40,1 km/h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átlagsebesség</a:t>
            </a:r>
            <a:endParaRPr lang="en-US" sz="1100" dirty="0"/>
          </a:p>
        </p:txBody>
      </p:sp>
      <p:sp>
        <p:nvSpPr>
          <p:cNvPr id="17" name="kpi-3"/>
          <p:cNvSpPr/>
          <p:nvPr/>
        </p:nvSpPr>
        <p:spPr>
          <a:xfrm>
            <a:off x="896112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75,0 %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előzési sikerarány</a:t>
            </a:r>
            <a:endParaRPr lang="en-US" sz="11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K CARLA - DE">
  <a:themeElements>
    <a:clrScheme name="TDK CARLA - DE">
      <a:dk1>
        <a:srgbClr val="00492A"/>
      </a:dk1>
      <a:lt1>
        <a:srgbClr val="FFFFFF"/>
      </a:lt1>
      <a:dk2>
        <a:srgbClr val="3F6B55"/>
      </a:dk2>
      <a:lt2>
        <a:srgbClr val="EEF2EE"/>
      </a:lt2>
      <a:accent1>
        <a:srgbClr val="00492A"/>
      </a:accent1>
      <a:accent2>
        <a:srgbClr val="00703C"/>
      </a:accent2>
      <a:accent3>
        <a:srgbClr val="00492A"/>
      </a:accent3>
      <a:accent4>
        <a:srgbClr val="7D9A8A"/>
      </a:accent4>
      <a:accent5>
        <a:srgbClr val="CFE0D4"/>
      </a:accent5>
      <a:accent6>
        <a:srgbClr val="C8912F"/>
      </a:accent6>
      <a:hlink>
        <a:srgbClr val="00492A"/>
      </a:hlink>
      <a:folHlink>
        <a:srgbClr val="7D9A8A"/>
      </a:folHlink>
    </a:clrScheme>
    <a:fontScheme name="TDK CARLA - 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Dinamikus objektumelkerülés megerősítéses tanulással</dc:title>
  <dc:subject>PptxGenJS Presentation</dc:subject>
  <dc:creator>Angi Dávid</dc:creator>
  <cp:lastModifiedBy>Angi Dávid</cp:lastModifiedBy>
  <cp:revision>1</cp:revision>
  <dcterms:created xsi:type="dcterms:W3CDTF">2026-10-28T14:36:08Z</dcterms:created>
  <dcterms:modified xsi:type="dcterms:W3CDTF">2026-10-28T14:36:08Z</dcterms:modified>
</cp:coreProperties>
</file>